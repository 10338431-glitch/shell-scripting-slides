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6" Type="http://schemas.microsoft.com/office/2020/02/relationships/classificationlabels" Target="docMetadata/LabelInfo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89" r:id="rId4"/>
    <p:sldId id="258" r:id="rId5"/>
    <p:sldId id="259" r:id="rId6"/>
    <p:sldId id="276" r:id="rId7"/>
    <p:sldId id="277" r:id="rId8"/>
    <p:sldId id="278" r:id="rId9"/>
    <p:sldId id="262" r:id="rId10"/>
    <p:sldId id="261" r:id="rId11"/>
    <p:sldId id="263" r:id="rId12"/>
    <p:sldId id="279" r:id="rId13"/>
    <p:sldId id="280" r:id="rId14"/>
    <p:sldId id="281" r:id="rId15"/>
    <p:sldId id="282" r:id="rId16"/>
    <p:sldId id="283" r:id="rId17"/>
    <p:sldId id="284" r:id="rId18"/>
    <p:sldId id="264" r:id="rId19"/>
    <p:sldId id="265" r:id="rId20"/>
    <p:sldId id="266" r:id="rId21"/>
    <p:sldId id="267" r:id="rId22"/>
    <p:sldId id="268" r:id="rId23"/>
    <p:sldId id="285" r:id="rId24"/>
    <p:sldId id="269" r:id="rId25"/>
    <p:sldId id="270" r:id="rId26"/>
    <p:sldId id="286" r:id="rId27"/>
    <p:sldId id="271" r:id="rId28"/>
    <p:sldId id="287" r:id="rId29"/>
    <p:sldId id="288" r:id="rId30"/>
    <p:sldId id="272" r:id="rId31"/>
    <p:sldId id="273" r:id="rId32"/>
    <p:sldId id="274" r:id="rId33"/>
    <p:sldId id="275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294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Outline the value of CLI and Git for reproducibility, automation, and collaboration.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shell as a REPL for OS; contrast with GUI; mention remote servers and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audience uses Windows, mention Windows Terminal and WSL for Linux-like shells.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 demo scenario: batch rename files, parse logs, deploy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permissions briefly (rwx); hidden files start with dot.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demo: pwd, ls -la, cd ~, cd -, using tab to complete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Safety tips: use trash or version control; demo rm -ri.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piping: cat file | grep ERROR | less; discuss quoting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execution: chmod +x script.sh; run with ./script.sh or bash script.sh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parameters: $1 with default; -lah flags; suggest enhancements (filters).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Differentiate centralized vs distributed; Git is distributed.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basic install and config: git config --global user.name/email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to engineering metrics: faster onboarding, fewer regressions.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working tree vs index vs HEAD; push/pull with remotes.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Call out .gitignore and meaningful commit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rebase vs merge at a high level; keep branches short-lived.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checklists and templates for PRs; keep commits 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how to pass a pattern: ./list.sh /var/log "*.log"; discuss quoting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Share links to team Git hosting and internal wiki. Suggest next workshop: bash tooling &amp; Git branching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A9F07B-E415-3CB8-3C35-562772F98E5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7461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 - Public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t>Introduction to Shell and Version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C8C8C"/>
                </a:solidFill>
              </a:defRPr>
            </a:pPr>
            <a:r>
              <a:t>Workshop: Command-line basics, scripting, and Git essentials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463040" cy="365760"/>
          </a:xfrm>
          <a:prstGeom prst="roundRect">
            <a:avLst/>
          </a:prstGeom>
          <a:solidFill>
            <a:srgbClr val="13C2C2"/>
          </a:solidFill>
          <a:ln>
            <a:solidFill>
              <a:srgbClr val="13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Shell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011680"/>
            <a:ext cx="1463040" cy="365760"/>
          </a:xfrm>
          <a:prstGeom prst="roundRect">
            <a:avLst/>
          </a:prstGeom>
          <a:solidFill>
            <a:srgbClr val="13C2C2"/>
          </a:solidFill>
          <a:ln>
            <a:solidFill>
              <a:srgbClr val="13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Scripting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011680"/>
            <a:ext cx="1463040" cy="365760"/>
          </a:xfrm>
          <a:prstGeom prst="roundRect">
            <a:avLst/>
          </a:prstGeom>
          <a:solidFill>
            <a:srgbClr val="13C2C2"/>
          </a:solidFill>
          <a:ln>
            <a:solidFill>
              <a:srgbClr val="13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Intro to Shell &amp; Version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822" y="379765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rPr dirty="0"/>
              <a:t>What is a Shell?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8978" y="1849790"/>
            <a:ext cx="74901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Interface between user and operating system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Accepts commands and returns output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/>
              <a:t>Examples: bash, </a:t>
            </a:r>
            <a:r>
              <a:rPr dirty="0" err="1"/>
              <a:t>zsh</a:t>
            </a:r>
            <a:r>
              <a:rPr dirty="0"/>
              <a:t>, fish, PowerShell (on Windows)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Automates repetitive tasks with scripts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Non-graphical but powerful and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Shell Basics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740CFA5-7FC1-EC6F-CEB5-EA8669DF7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78" y="3715897"/>
            <a:ext cx="77724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Shell = Command-line interface (CLI) to interact with 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Interpreter: Reads commands → executes programs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 shells: Bash (most common on Linux/macOS),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Zsh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Fish, PowerShell (Windows)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shell over GUI? Faster, automation, remote servers, precision, scripting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1116-44D4-AD2B-5E7F-8FCB5CEC3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F389A7-1196-4BFA-4687-8B7AE4A8369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3528854"/>
          <a:ext cx="8229600" cy="668655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8439042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https://www.codecademy.com/learn/learn-the-command-line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015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2368914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E38113-D706-06A2-B9FD-5F4883A31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178749"/>
              </p:ext>
            </p:extLst>
          </p:nvPr>
        </p:nvGraphicFramePr>
        <p:xfrm>
          <a:off x="457200" y="1632420"/>
          <a:ext cx="8229600" cy="3968216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1576589270"/>
                    </a:ext>
                  </a:extLst>
                </a:gridCol>
              </a:tblGrid>
              <a:tr h="116196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https://www.learnshell.org/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252077"/>
                  </a:ext>
                </a:extLst>
              </a:tr>
              <a:tr h="1403126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https://linuxsurvival.com/</a:t>
                      </a:r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00439"/>
                  </a:ext>
                </a:extLst>
              </a:tr>
              <a:tr h="14031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9844128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FBB17D6-1CB1-2491-E1E4-16F77B75ABEA}"/>
              </a:ext>
            </a:extLst>
          </p:cNvPr>
          <p:cNvSpPr txBox="1"/>
          <p:nvPr/>
        </p:nvSpPr>
        <p:spPr>
          <a:xfrm>
            <a:off x="457200" y="4586365"/>
            <a:ext cx="7692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https://jupyterlite.readthedocs.io/en/latest/_static/lab/index.html</a:t>
            </a:r>
          </a:p>
        </p:txBody>
      </p:sp>
    </p:spTree>
    <p:extLst>
      <p:ext uri="{BB962C8B-B14F-4D97-AF65-F5344CB8AC3E}">
        <p14:creationId xmlns:p14="http://schemas.microsoft.com/office/powerpoint/2010/main" val="4022393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9533" y="338172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rPr dirty="0"/>
              <a:t>Types of Shells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1512" y="1767840"/>
            <a:ext cx="717973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Bash (Bourne Again Shell) — default on many Linux/macOS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 err="1"/>
              <a:t>Zsh</a:t>
            </a:r>
            <a:r>
              <a:rPr dirty="0"/>
              <a:t> — modern features, good autocompletion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Fish — user-friendly, not POSIX-compliant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PowerShell — cross-platform, object-based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Shell Basics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6245" y="283244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rPr dirty="0"/>
              <a:t>Why Use the Shell?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6667" y="1753269"/>
            <a:ext cx="753533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Speed: complete tasks faster than GUI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Automation: scripts reduce manual work and errors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Reproducibility: share commands and scripts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Remote Ops: administer servers via SSH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Shell Basics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50F5-DEEA-D7B7-CD5B-89E572B4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Opening a Terminal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E4852-5E38-33DD-15F6-20050723A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Windows: Git Bash, WSL, PowerShell</a:t>
            </a:r>
          </a:p>
          <a:p>
            <a:r>
              <a:rPr lang="en-US" dirty="0"/>
              <a:t>macOS: </a:t>
            </a:r>
            <a:r>
              <a:rPr lang="en-US" dirty="0" err="1"/>
              <a:t>Terminal.app</a:t>
            </a:r>
            <a:r>
              <a:rPr lang="en-US" dirty="0"/>
              <a:t> (pre-installed)</a:t>
            </a:r>
          </a:p>
          <a:p>
            <a:r>
              <a:rPr lang="en-US" dirty="0"/>
              <a:t>Linux: Ctrl+Alt+T or search "Terminal"</a:t>
            </a:r>
          </a:p>
          <a:p>
            <a:r>
              <a:rPr lang="en-US" dirty="0"/>
              <a:t>Prompt example: </a:t>
            </a:r>
            <a:r>
              <a:rPr lang="en-US" dirty="0" err="1"/>
              <a:t>user@machine</a:t>
            </a:r>
            <a:r>
              <a:rPr lang="en-US" dirty="0"/>
              <a:t>:~/current/</a:t>
            </a:r>
            <a:r>
              <a:rPr lang="en-US" dirty="0" err="1"/>
              <a:t>dir</a:t>
            </a:r>
            <a:r>
              <a:rPr lang="en-US" dirty="0"/>
              <a:t> $</a:t>
            </a:r>
          </a:p>
          <a:p>
            <a:r>
              <a:rPr lang="en-US" dirty="0"/>
              <a:t>Visual: Screenshot of different terminals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458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AC38C-3699-8B33-5F8A-C7D44C7E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Filesystem Basics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5DF3F-9E54-2ADB-0966-B2E34E3E8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Hierarchical tree structure</a:t>
            </a:r>
          </a:p>
          <a:p>
            <a:r>
              <a:rPr lang="en-US" dirty="0"/>
              <a:t>Root: / (Linux/macOS) or C:\ (Windows)</a:t>
            </a:r>
          </a:p>
          <a:p>
            <a:r>
              <a:rPr lang="en-US" dirty="0"/>
              <a:t>Home directory: ~ or /home/username</a:t>
            </a:r>
          </a:p>
          <a:p>
            <a:r>
              <a:rPr lang="en-US" dirty="0"/>
              <a:t>Current directory: . | Parent: ..</a:t>
            </a:r>
          </a:p>
          <a:p>
            <a:r>
              <a:rPr lang="en-US" dirty="0"/>
              <a:t>Absolute vs relative paths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183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DE46E-41A4-5FE0-5DAC-10A3FDD2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Navigation Commands – </a:t>
            </a:r>
            <a:r>
              <a:rPr lang="en-US" b="1" dirty="0" err="1"/>
              <a:t>pwd</a:t>
            </a:r>
            <a:r>
              <a:rPr lang="en-US" b="1" dirty="0"/>
              <a:t>, ls, cd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9C15E-AD70-91B8-1FEB-961D3795D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pwd</a:t>
            </a:r>
            <a:r>
              <a:rPr lang="en-US" dirty="0"/>
              <a:t> → Print Working Directory (where am I?)</a:t>
            </a:r>
          </a:p>
          <a:p>
            <a:r>
              <a:rPr lang="en-US" dirty="0"/>
              <a:t>ls → List files/folders (add -l for details, -a for hidden, -h human-readable)</a:t>
            </a:r>
          </a:p>
          <a:p>
            <a:r>
              <a:rPr lang="en-US" dirty="0"/>
              <a:t>cd path → Change Directory (e.g. cd Documents, cd .., cd ~, cd /)</a:t>
            </a:r>
          </a:p>
          <a:p>
            <a:r>
              <a:rPr lang="en-US" dirty="0"/>
              <a:t>Code examples +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83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82434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rPr dirty="0"/>
              <a:t>Listing Files and Directories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8666" y="1882069"/>
            <a:ext cx="84948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Common flags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/>
              <a:t>-l: long listing with permissions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/>
              <a:t>-a: show hidden files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/>
              <a:t>-h: human-readable sizes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 err="1"/>
              <a:t>Globbing</a:t>
            </a:r>
            <a:r>
              <a:rPr dirty="0"/>
              <a:t>: *.txt, ?.log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Sorting: ls -</a:t>
            </a:r>
            <a:r>
              <a:rPr dirty="0" err="1"/>
              <a:t>lt</a:t>
            </a:r>
            <a:r>
              <a:rPr dirty="0"/>
              <a:t> (by time), ls -S (by size)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Shell Navigation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5978" y="274320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rPr dirty="0"/>
              <a:t>Basic Command-line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0222" y="1828800"/>
            <a:ext cx="664915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Key commands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 err="1"/>
              <a:t>pwd</a:t>
            </a:r>
            <a:r>
              <a:rPr dirty="0"/>
              <a:t> — print working directory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/>
              <a:t>ls — list directory contents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/>
              <a:t>cd — change directory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Paths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/>
              <a:t>Absolute vs relative paths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/>
              <a:t>Home (~), parent (..), current (.)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Tab completion and history (↑/↓) to speed up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Shell Navigation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69491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rPr dirty="0"/>
              <a:t>Creating and Removing Directories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3533" y="1614884"/>
            <a:ext cx="819855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62626"/>
                </a:solidFill>
              </a:defRPr>
            </a:pPr>
            <a:r>
              <a:rPr dirty="0" err="1"/>
              <a:t>mkdir</a:t>
            </a:r>
            <a:r>
              <a:rPr dirty="0"/>
              <a:t> </a:t>
            </a:r>
            <a:r>
              <a:rPr dirty="0" err="1"/>
              <a:t>new_project</a:t>
            </a:r>
            <a:r>
              <a:rPr dirty="0"/>
              <a:t>  •  </a:t>
            </a:r>
            <a:r>
              <a:rPr dirty="0" err="1"/>
              <a:t>mkdir</a:t>
            </a:r>
            <a:r>
              <a:rPr dirty="0"/>
              <a:t> -p path/to/nested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 err="1"/>
              <a:t>rmdir</a:t>
            </a:r>
            <a:r>
              <a:rPr dirty="0"/>
              <a:t> </a:t>
            </a:r>
            <a:r>
              <a:rPr dirty="0" err="1"/>
              <a:t>empty_dir</a:t>
            </a:r>
            <a:r>
              <a:rPr dirty="0"/>
              <a:t>  •  rm -r </a:t>
            </a:r>
            <a:r>
              <a:rPr dirty="0" err="1"/>
              <a:t>dir_with_files</a:t>
            </a:r>
            <a:endParaRPr dirty="0"/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Be careful with rm -r; consider the -</a:t>
            </a:r>
            <a:r>
              <a:rPr dirty="0" err="1"/>
              <a:t>i</a:t>
            </a:r>
            <a:r>
              <a:rPr dirty="0"/>
              <a:t>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Shell Navigation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EF26-611C-0D2B-6F10-033D35FE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Creating &amp; Removing – </a:t>
            </a:r>
            <a:r>
              <a:rPr lang="en-US" b="1" dirty="0" err="1"/>
              <a:t>mkdir</a:t>
            </a:r>
            <a:r>
              <a:rPr lang="en-US" b="1" dirty="0"/>
              <a:t>, touch, rm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6E3C9-DCCC-AFB1-4647-9C4857135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foldername</a:t>
            </a:r>
            <a:r>
              <a:rPr lang="en-US" dirty="0"/>
              <a:t> → Make directory</a:t>
            </a:r>
          </a:p>
          <a:p>
            <a:r>
              <a:rPr lang="en-US" dirty="0"/>
              <a:t>touch file.txt → Create empty file (or update timestamp)</a:t>
            </a:r>
          </a:p>
          <a:p>
            <a:r>
              <a:rPr lang="en-US" dirty="0"/>
              <a:t>rm file.txt → Remove file (careful! No recycle bin)</a:t>
            </a:r>
          </a:p>
          <a:p>
            <a:r>
              <a:rPr lang="en-US" dirty="0"/>
              <a:t>rm -r folder → Remove directory recursively</a:t>
            </a:r>
          </a:p>
          <a:p>
            <a:r>
              <a:rPr lang="en-US" dirty="0"/>
              <a:t>Tip: Use rm -</a:t>
            </a:r>
            <a:r>
              <a:rPr lang="en-US" dirty="0" err="1"/>
              <a:t>i</a:t>
            </a:r>
            <a:r>
              <a:rPr lang="en-US" dirty="0"/>
              <a:t> for interactive/confirmation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703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4077F-CDA4-82DA-69D9-214507DC9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Viewing &amp; Editing Files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EC50C0-FFD2-F3B1-9AF3-E5B4FB703F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 file.txt → Display content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file.txt or more → Page through large files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 -n 5 file.txt → First 5 lines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 -n 10 file.txt → Last 10 lines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editor: nano file.txt (easy for beginners) </a:t>
            </a:r>
          </a:p>
        </p:txBody>
      </p:sp>
    </p:spTree>
    <p:extLst>
      <p:ext uri="{BB962C8B-B14F-4D97-AF65-F5344CB8AC3E}">
        <p14:creationId xmlns:p14="http://schemas.microsoft.com/office/powerpoint/2010/main" val="603960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47332-E610-B609-321A-8033E820A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Copy, Move, Rename – cp, mv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5FF8F-CAFE-9C31-23E3-D0DD734E2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 source destination → Copy file</a:t>
            </a:r>
          </a:p>
          <a:p>
            <a:r>
              <a:rPr lang="en-US" dirty="0"/>
              <a:t>cp -r </a:t>
            </a:r>
            <a:r>
              <a:rPr lang="en-US" dirty="0" err="1"/>
              <a:t>source_dir</a:t>
            </a:r>
            <a:r>
              <a:rPr lang="en-US" dirty="0"/>
              <a:t> </a:t>
            </a:r>
            <a:r>
              <a:rPr lang="en-US" dirty="0" err="1"/>
              <a:t>dest_dir</a:t>
            </a:r>
            <a:r>
              <a:rPr lang="en-US" dirty="0"/>
              <a:t> → Copy directory</a:t>
            </a:r>
          </a:p>
          <a:p>
            <a:r>
              <a:rPr lang="en-US" dirty="0"/>
              <a:t>mv source destination → Move or rename</a:t>
            </a:r>
          </a:p>
          <a:p>
            <a:r>
              <a:rPr lang="en-US" dirty="0"/>
              <a:t>Examples: mv old.txt newname.txt, mv file.txt ../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420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AAE9-B425-3E5D-19C5-340FBF38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Wildcards &amp; Basic Patterns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60927-B38D-FC03-6FF6-E107E952F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 → Any characters (e.g. ls *.txt)</a:t>
            </a:r>
          </a:p>
          <a:p>
            <a:r>
              <a:rPr lang="en-US" dirty="0"/>
              <a:t>? → Single character</a:t>
            </a:r>
          </a:p>
          <a:p>
            <a:r>
              <a:rPr lang="en-US" dirty="0"/>
              <a:t>[ ] → Range (e.g. ls file[1-3].txt)</a:t>
            </a:r>
          </a:p>
          <a:p>
            <a:r>
              <a:rPr lang="en-US" dirty="0"/>
              <a:t>Useful: rm *.</a:t>
            </a:r>
            <a:r>
              <a:rPr lang="en-US" dirty="0" err="1"/>
              <a:t>bak</a:t>
            </a:r>
            <a:r>
              <a:rPr lang="en-US" dirty="0"/>
              <a:t> to clean backups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08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6874F-43CE-21A1-0C2B-90D42BCCD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Redirection &amp; Pipes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3D703-6B0A-77BD-67BA-36B67875E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&gt; → Redirect output to file (overwrite)</a:t>
            </a:r>
          </a:p>
          <a:p>
            <a:r>
              <a:rPr lang="en-US" dirty="0"/>
              <a:t>&gt;&gt; → Append</a:t>
            </a:r>
          </a:p>
          <a:p>
            <a:r>
              <a:rPr lang="en-US" dirty="0"/>
              <a:t>&lt; → Input from file</a:t>
            </a:r>
          </a:p>
          <a:p>
            <a:r>
              <a:rPr lang="en-US" dirty="0"/>
              <a:t>→ Pipe output to next command</a:t>
            </a:r>
          </a:p>
          <a:p>
            <a:r>
              <a:rPr lang="en-US" dirty="0"/>
              <a:t>Example: ls -l | grep ".txt"</a:t>
            </a:r>
          </a:p>
          <a:p>
            <a:r>
              <a:rPr lang="en-US" dirty="0"/>
              <a:t>echo "Hello" &gt; greeting.txt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557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C5CDB-C5BD-2C9E-073D-931C1C87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Useful Everyday Commands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459A6-519E-7EF5-E147-2C87D161A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 command or command --help → Get help</a:t>
            </a:r>
          </a:p>
          <a:p>
            <a:r>
              <a:rPr lang="en-US" dirty="0"/>
              <a:t>history → See previous commands</a:t>
            </a:r>
          </a:p>
          <a:p>
            <a:r>
              <a:rPr lang="en-US" dirty="0"/>
              <a:t>clear → Clear screen</a:t>
            </a:r>
          </a:p>
          <a:p>
            <a:r>
              <a:rPr lang="en-US" dirty="0" err="1"/>
              <a:t>whoami</a:t>
            </a:r>
            <a:r>
              <a:rPr lang="en-US" dirty="0"/>
              <a:t>, </a:t>
            </a:r>
            <a:r>
              <a:rPr lang="en-US" dirty="0" err="1"/>
              <a:t>uname</a:t>
            </a:r>
            <a:r>
              <a:rPr lang="en-US" dirty="0"/>
              <a:t> -a, </a:t>
            </a:r>
            <a:r>
              <a:rPr lang="en-US" dirty="0" err="1"/>
              <a:t>df</a:t>
            </a:r>
            <a:r>
              <a:rPr lang="en-US" dirty="0"/>
              <a:t> -h, free -h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737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0466" y="293723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rPr dirty="0"/>
              <a:t>Working with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4223" y="1661725"/>
            <a:ext cx="745066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touch file.txt  •  cp </a:t>
            </a:r>
            <a:r>
              <a:rPr dirty="0" err="1"/>
              <a:t>src</a:t>
            </a:r>
            <a:r>
              <a:rPr dirty="0"/>
              <a:t> </a:t>
            </a:r>
            <a:r>
              <a:rPr dirty="0" err="1"/>
              <a:t>dst</a:t>
            </a:r>
            <a:r>
              <a:rPr dirty="0"/>
              <a:t>  •  mv old new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cat, less, head, tail -f for logs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grep pattern file  •  grep -R pattern </a:t>
            </a:r>
            <a:r>
              <a:rPr dirty="0" err="1"/>
              <a:t>dir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Shell Navigation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134" y="222603"/>
            <a:ext cx="7772400" cy="996597"/>
          </a:xfrm>
        </p:spPr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rPr dirty="0"/>
              <a:t>Shell Scripting Basics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5200" y="1315367"/>
            <a:ext cx="740833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Structure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/>
              <a:t>#!/usr/bin/env bash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/>
              <a:t>set -</a:t>
            </a:r>
            <a:r>
              <a:rPr dirty="0" err="1"/>
              <a:t>euo</a:t>
            </a:r>
            <a:r>
              <a:rPr dirty="0"/>
              <a:t> </a:t>
            </a:r>
            <a:r>
              <a:rPr dirty="0" err="1"/>
              <a:t>pipefail</a:t>
            </a:r>
            <a:r>
              <a:rPr dirty="0"/>
              <a:t> (safer scripts)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Variables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/>
              <a:t>NAME=world  •  echo "$NAME"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Control flow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/>
              <a:t>if/else, for, while,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Scripting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t>Writing a Simple Shell 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6756" y="476391"/>
            <a:ext cx="914400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877824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#!/usr/bin/env bash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set -euo pipefail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# Navigate to a directory (default: current)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TARGET_DIR=${1:-"."}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cd "$TARGET_DIR"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echo "Listing for: $(pwd)"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ls -lah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Scripting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5931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rPr dirty="0"/>
              <a:t>Version Control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15156" y="1645956"/>
            <a:ext cx="751275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Track changes to files over time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Revert to previous versions when needed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Branch to experiment without breaking main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Collaborate with reviews and pull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Version Control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CBB1C7F-7DCD-16A0-03F1-DABBD6561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757" y="3547131"/>
            <a:ext cx="694698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version control?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changes over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Revert mistakes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Collaborate without overwriting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Backup &amp; history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ways (copy folders: v1, v2, final_final) vs automated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0777" y="266311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rPr dirty="0"/>
              <a:t>What is Git?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830015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62626"/>
                </a:solidFill>
              </a:defRPr>
            </a:pPr>
            <a:r>
              <a:t>Distributed version control system (DVCS)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t>Local commits, then push to remote (e.g., GitHub, GitLab, Azure Repos)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t>Fast branching and merging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Version Control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13D56-164E-2E2F-7026-418DA06BD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is Version Control?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8BB09-D707-4135-ACDC-3F4D1489D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that records changes to files over time</a:t>
            </a:r>
          </a:p>
          <a:p>
            <a:r>
              <a:rPr lang="en-US" dirty="0"/>
              <a:t>Allows recall of specific versions later</a:t>
            </a:r>
          </a:p>
          <a:p>
            <a:r>
              <a:rPr lang="en-US" dirty="0"/>
              <a:t>Types:</a:t>
            </a:r>
          </a:p>
          <a:p>
            <a:pPr lvl="1"/>
            <a:r>
              <a:rPr lang="en-US" dirty="0"/>
              <a:t>Local (e.g. simple backups)</a:t>
            </a:r>
          </a:p>
          <a:p>
            <a:pPr lvl="1"/>
            <a:r>
              <a:rPr lang="en-US" dirty="0"/>
              <a:t>Centralized (SVN)</a:t>
            </a:r>
          </a:p>
          <a:p>
            <a:pPr lvl="1"/>
            <a:r>
              <a:rPr lang="en-US" dirty="0"/>
              <a:t>Distributed (Git, Mercurial)</a:t>
            </a:r>
          </a:p>
          <a:p>
            <a:r>
              <a:rPr lang="en-US" dirty="0"/>
              <a:t>Focus: Git – distributed, free, fast, powerful</a:t>
            </a:r>
          </a:p>
          <a:p>
            <a:r>
              <a:rPr lang="en-US" dirty="0"/>
              <a:t>Visual: Timeline of file versions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552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778" y="288078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rPr dirty="0"/>
              <a:t>Why Version Control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733" y="1909021"/>
            <a:ext cx="724182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Auditability and history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Collaboration with minimal friction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Supports CI/CD and code reviews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Safer experiments via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Version Control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335915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rPr dirty="0"/>
              <a:t>Basic Git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103120" cy="822960"/>
          </a:xfrm>
          <a:prstGeom prst="roundRect">
            <a:avLst/>
          </a:prstGeom>
          <a:solidFill>
            <a:srgbClr val="1890FF"/>
          </a:solidFill>
          <a:ln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Working Dir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03120"/>
            <a:ext cx="2103120" cy="822960"/>
          </a:xfrm>
          <a:prstGeom prst="roundRect">
            <a:avLst/>
          </a:prstGeom>
          <a:solidFill>
            <a:srgbClr val="13C2C2"/>
          </a:solidFill>
          <a:ln>
            <a:solidFill>
              <a:srgbClr val="13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Staging 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103120"/>
            <a:ext cx="2103120" cy="822960"/>
          </a:xfrm>
          <a:prstGeom prst="roundRect">
            <a:avLst/>
          </a:prstGeom>
          <a:solidFill>
            <a:srgbClr val="0050B3"/>
          </a:solidFill>
          <a:ln>
            <a:solidFill>
              <a:srgbClr val="005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Local Repo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103120"/>
            <a:ext cx="2103120" cy="822960"/>
          </a:xfrm>
          <a:prstGeom prst="roundRect">
            <a:avLst/>
          </a:prstGeom>
          <a:solidFill>
            <a:srgbClr val="5A3691"/>
          </a:solidFill>
          <a:ln>
            <a:solidFill>
              <a:srgbClr val="5A3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Remote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0"/>
            <a:ext cx="457200" cy="0"/>
          </a:xfrm>
          <a:prstGeom prst="line">
            <a:avLst/>
          </a:prstGeom>
          <a:ln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77840" y="0"/>
            <a:ext cx="457200" cy="0"/>
          </a:xfrm>
          <a:prstGeom prst="line">
            <a:avLst/>
          </a:prstGeom>
          <a:ln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38160" y="0"/>
            <a:ext cx="457200" cy="0"/>
          </a:xfrm>
          <a:prstGeom prst="line">
            <a:avLst/>
          </a:prstGeom>
          <a:ln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291840"/>
            <a:ext cx="7772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62626"/>
                </a:solidFill>
              </a:defRPr>
            </a:pPr>
            <a:r>
              <a:t>git add → git commit → git push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t>git pull to sync; resolve conflicts then 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Git Workflow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BF1D-CF4A-8F89-E4AF-C709BFED3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Git Basics – Repositories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9AD7C-5B35-A9CA-1430-36DBD505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Repository (repo) = Project folder with .git hidden folder</a:t>
            </a:r>
          </a:p>
          <a:p>
            <a:r>
              <a:rPr lang="en-US" dirty="0"/>
              <a:t>Local repo vs remote (GitHub, GitLab, Bitbucket)</a:t>
            </a:r>
          </a:p>
          <a:p>
            <a:r>
              <a:rPr lang="en-US" dirty="0"/>
              <a:t>Three areas:</a:t>
            </a:r>
          </a:p>
          <a:p>
            <a:pPr lvl="1"/>
            <a:r>
              <a:rPr lang="en-US" dirty="0"/>
              <a:t>Working directory</a:t>
            </a:r>
          </a:p>
          <a:p>
            <a:pPr lvl="1"/>
            <a:r>
              <a:rPr lang="en-US" dirty="0"/>
              <a:t>Staging area (index)</a:t>
            </a:r>
          </a:p>
          <a:p>
            <a:pPr lvl="1"/>
            <a:r>
              <a:rPr lang="en-US" dirty="0"/>
              <a:t>Repository (committed history)</a:t>
            </a:r>
          </a:p>
          <a:p>
            <a:r>
              <a:rPr lang="en-US" dirty="0"/>
              <a:t>Visual: Classic Git areas diagram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835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t>Repositories and Commits: Core Commands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914400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877824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# Initialize and configure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git init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git config --global user.name "Your Name"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git config --global user.email "you@example.com"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# Add &amp; commit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git add .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git commit -m "Initial commit"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Git Essentials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BDD1B-B10B-3008-00B0-0C675421F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Basic Git Workflow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83995-E9B1-3973-585B-4EE9FE2CF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Create/edit files</a:t>
            </a:r>
          </a:p>
          <a:p>
            <a:r>
              <a:rPr lang="en-US" dirty="0"/>
              <a:t>git add file.txt (or git add .) → Stage</a:t>
            </a:r>
          </a:p>
          <a:p>
            <a:r>
              <a:rPr lang="en-US" dirty="0"/>
              <a:t>git commit -m "Descriptive message" → Save snapshot</a:t>
            </a:r>
          </a:p>
          <a:p>
            <a:r>
              <a:rPr lang="en-US" dirty="0"/>
              <a:t>Repeat</a:t>
            </a:r>
          </a:p>
          <a:p>
            <a:r>
              <a:rPr lang="en-US" dirty="0"/>
              <a:t>View history: git log (or git log --</a:t>
            </a:r>
            <a:r>
              <a:rPr lang="en-US" dirty="0" err="1"/>
              <a:t>oneline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452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5E4B-2D4F-051C-EE5D-2F3E73A4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Branching Basics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B6734-6A93-FEA8-0DC7-99BAF0776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branch: usually main or master</a:t>
            </a:r>
          </a:p>
          <a:p>
            <a:r>
              <a:rPr lang="en-US" dirty="0"/>
              <a:t>git branch new-feature → Create branch</a:t>
            </a:r>
          </a:p>
          <a:p>
            <a:r>
              <a:rPr lang="en-US" dirty="0"/>
              <a:t>git checkout new-feature → Switch</a:t>
            </a:r>
          </a:p>
          <a:p>
            <a:r>
              <a:rPr lang="en-US" dirty="0"/>
              <a:t>Or: git checkout -b new-feature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0356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0333" y="205669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rPr dirty="0"/>
              <a:t>Branching and Merging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92578" y="1422717"/>
            <a:ext cx="7772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Create: git branch feature/login  •  git switch feature/login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Merge: git switch main  •  git merge feature/login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Handle conflicts with clear messages and small PRs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Git Essentials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000" y="233750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rPr dirty="0"/>
              <a:t>Collaboration with Git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7155" y="1703775"/>
            <a:ext cx="9144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Forks vs branches; pull requests/merge requests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Code reviews, CI checks, and required approvals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Protect main with branch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Collaboration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t>Shell Script: Navigate and List Files (Expanded)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914400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877824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#!/usr/bin/env bash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set -euo pipefail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TARGET_DIR=${1:-"."}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FILTER=${2:-"*"}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cd "$TARGET_DIR"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echo "Listing $(pwd) filtered by: $FILTER"</a:t>
            </a:r>
          </a:p>
          <a:p>
            <a:pPr>
              <a:defRPr sz="1600">
                <a:solidFill>
                  <a:srgbClr val="1F1F1F"/>
                </a:solidFill>
                <a:latin typeface="Consolas"/>
              </a:defRPr>
            </a:pPr>
            <a:r>
              <a:t>ls -lah --color=auto $FILTER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Hands-on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6467" y="238090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262626"/>
                </a:solidFill>
              </a:defRPr>
            </a:pPr>
            <a:r>
              <a:rPr dirty="0"/>
              <a:t>Summary and Next Steps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8933" y="1708115"/>
            <a:ext cx="9144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You can navigate, manipulate files, and write basic scripts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You understand Git concepts and the basic workflow</a:t>
            </a:r>
          </a:p>
          <a:p>
            <a:pPr>
              <a:defRPr sz="2200">
                <a:solidFill>
                  <a:srgbClr val="262626"/>
                </a:solidFill>
              </a:defRPr>
            </a:pPr>
            <a:r>
              <a:rPr dirty="0"/>
              <a:t>Practice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/>
              <a:t>Convert frequent tasks into scripts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/>
              <a:t>Commit early and often</a:t>
            </a:r>
          </a:p>
          <a:p>
            <a:pPr lvl="1">
              <a:defRPr sz="2000">
                <a:solidFill>
                  <a:srgbClr val="262626"/>
                </a:solidFill>
              </a:defRPr>
            </a:pPr>
            <a:r>
              <a:rPr dirty="0"/>
              <a:t>Open a PR for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87878"/>
                </a:solidFill>
              </a:defRPr>
            </a:pPr>
            <a:r>
              <a:t>Wrap-up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bb8c0a-13a3-4a50-8c81-ac259c1da214}" enabled="1" method="Privileged" siteId="{2f03436d-45af-4de9-86d8-2b058049c321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1780</Words>
  <Application>Microsoft Office PowerPoint</Application>
  <PresentationFormat>On-screen Show (4:3)</PresentationFormat>
  <Paragraphs>252</Paragraphs>
  <Slides>33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Introduction to Shell and Version Control</vt:lpstr>
      <vt:lpstr>What is a Shell?</vt:lpstr>
      <vt:lpstr>Resources</vt:lpstr>
      <vt:lpstr>Types of Shells</vt:lpstr>
      <vt:lpstr>Why Use the Shell?</vt:lpstr>
      <vt:lpstr>Opening a Terminal </vt:lpstr>
      <vt:lpstr>Filesystem Basics </vt:lpstr>
      <vt:lpstr>Navigation Commands – pwd, ls, cd </vt:lpstr>
      <vt:lpstr>Listing Files and Directories</vt:lpstr>
      <vt:lpstr>Basic Command-line Navigation</vt:lpstr>
      <vt:lpstr>Creating and Removing Directories</vt:lpstr>
      <vt:lpstr>Creating &amp; Removing – mkdir, touch, rm </vt:lpstr>
      <vt:lpstr>Viewing &amp; Editing Files </vt:lpstr>
      <vt:lpstr>Copy, Move, Rename – cp, mv </vt:lpstr>
      <vt:lpstr>Wildcards &amp; Basic Patterns </vt:lpstr>
      <vt:lpstr>Redirection &amp; Pipes </vt:lpstr>
      <vt:lpstr>Useful Everyday Commands </vt:lpstr>
      <vt:lpstr>Working with Files</vt:lpstr>
      <vt:lpstr>Shell Scripting Basics</vt:lpstr>
      <vt:lpstr>Writing a Simple Shell Script</vt:lpstr>
      <vt:lpstr>Version Control Concepts</vt:lpstr>
      <vt:lpstr>What is Git?</vt:lpstr>
      <vt:lpstr>What is Version Control? </vt:lpstr>
      <vt:lpstr>Why Version Control Matters</vt:lpstr>
      <vt:lpstr>Basic Git Workflow</vt:lpstr>
      <vt:lpstr>Git Basics – Repositories </vt:lpstr>
      <vt:lpstr>Repositories and Commits: Core Commands</vt:lpstr>
      <vt:lpstr>Basic Git Workflow </vt:lpstr>
      <vt:lpstr>Branching Basics </vt:lpstr>
      <vt:lpstr>Branching and Merging</vt:lpstr>
      <vt:lpstr>Collaboration with Git</vt:lpstr>
      <vt:lpstr>Shell Script: Navigate and List Files (Expanded)</vt:lpstr>
      <vt:lpstr>Summary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Shell and Version Control</dc:title>
  <dc:subject/>
  <dc:creator>Godwin Ntow Danso</dc:creator>
  <cp:keywords/>
  <dc:description>generated using python-pptx</dc:description>
  <cp:lastModifiedBy>Patrick Nene</cp:lastModifiedBy>
  <cp:revision>22</cp:revision>
  <dcterms:created xsi:type="dcterms:W3CDTF">2013-01-27T09:14:16Z</dcterms:created>
  <dcterms:modified xsi:type="dcterms:W3CDTF">2026-02-12T09:02:30Z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LG - Public</vt:lpwstr>
  </property>
</Properties>
</file>