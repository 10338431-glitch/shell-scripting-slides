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39:27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2334 23977,'0'-2334'0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39:37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0 189 24575,'28'-2'0,"0"-1"0,0-1 0,30-9 0,-37 8 0,553-136 0,-534 133 0,0 2 0,0 2 0,0 1 0,59 4 0,-34 0 0,-31 0 0,0 2 0,55 11 0,66 25 0,-132-33 0,114 27 0,-70-18 0,0 2 0,93 38 0,3 6 0,-155-58 0,0 0 0,0-1 0,1 0 0,-1 0 0,1-1 0,11 0 0,55-2 0,-27-1 0,-21 2 0,0 1 0,48 8 0,-34-3 0,1-3 0,-1-1 0,50-4 0,-7 0 0,25-6 0,-10-1 0,-81 9 0,288 0 0,-270 4 0,40 9 0,-47-7 0,0-1 0,51 1 0,-40-4 0,46 7 0,-24-2 0,-6 1 0,-29-4 0,43 1 0,-10-6 0,67 2 0,-41 14-1365,-73-14-5461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39:39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39:42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24575,'1'31'0,"1"-1"0,2 0 0,14 56 0,38 87 0,-10-37 0,-26-56 0,-3 2 0,8 128 0,-24-201 0,1-1 0,0 1 0,1-1 0,3 9 0,-4-12 0,0 0 0,0 1 0,0-1 0,-1 0 0,0 0 0,0 1 0,0-1 0,-1 1 0,1-1 0,-1 1 0,-2 8 0,-9 30 0,7-32 0,0 1 0,1 0 0,1 0 0,-2 19 0,5-22 0,-1 0 0,-1 1 0,0-1 0,0 0 0,-1 0 0,-1 1 0,1-1 0,-2-1 0,1 1 0,-1 0 0,-11 17 0,-29 49 0,33-55 0,9-16 0,0 0 0,0 1 0,0-1 0,1 1 0,0-1 0,-1 7 0,1-6 0,1-1 0,-1 0 0,0 0 0,-1 0 0,0 0 0,1 0 0,-5 7 0,-1 0 0,2 0 0,-1 1 0,-4 16 0,-3 7 0,-4 9 0,-17 61 0,13-47 0,16-48 0,0 1 0,1 0 0,1 0 0,0 0 0,-2 16 0,-3 45 0,-3 83 0,12-37-1365,-1-105-5461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39:45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4209 105 24575,'-132'6'0,"-191"34"0,113-11 0,202-28 0,-461 50 0,-5-23 0,-121-30 0,180-32 0,2-22 0,393 53 0,-87-22 0,33 7 0,42 9 0,2 0 0,-1-2 0,-34-18 0,-40-14 0,90 38 0,0 1 0,0 0 0,-1 1 0,0 1 0,-20 0 0,-542 4-1365,564-2-5461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39:59.1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8192,'2'35'2646,"2"0"1,1 1 0,17 59-1,-4-24-1764,37 162-1693,12 55-1174,-60-245 3309,1 46 1,-6-71-1178,-1-7-147,1 0 0,1 0 0,7 21 0,-6-22 0,-1 1 0,0 0 0,0 0 0,0 12 0,-2 135 0,-2-76 0,-1-54-2946,-1 0-1,-13 52 1,12-67 2490,0 0 0,-12 23 0,10-23 36,0-1-1,-5 21 1,-4 13 420,11-35 0,0 0 0,1 0 0,0 0 0,1 1 0,-2 20 0,5-14 0,0 0 0,2 0 0,0-1 0,9 27 0,2 12 0,-1 0 1907,-5-25 1918,4 38 0,-10-56-1914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0:02.8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0 208 8192,'90'-1'7208,"-1"-1"-4013,177-10-6147,-73 3-1383,38 0 1781,164-7 2551,-326 15 1652,60-6 4146,-107 5-4928,0-2-1,-1 0 0,40-14 0,-3-4-866,61-13 0,-75 27 0,67-3 0,5 0 0,-62 2 0,7-2 0,113-3 0,-5 12-2194,183 5-4451,-287 3 5694,77 18-1,-32-5 226,-86-14 3482,1 1 1,-1 1 0,33 14 0,-19 2-2208,-32-19-567,0 0 0,1 0 0,-1 0 0,1-1 0,8 4 0,99 29 18,-26 7 0,-55-29-2733,-19-7-179,0-1 0,27 7 1,31 9 10551,-26-7-3812,-32-11-3995,72 19-2885,-48-18 4360,-23-4 603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0:05.7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17140,'16'1960'0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0:08.88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15036,'3632'-17'0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1:46.4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0,'85'1416'0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1:41:52.3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0 446,'2'0,"-1"-1,1 1,-1-1,0 0,1 0,-1 1,0-1,0 0,0 0,0 0,0 0,0-1,2-1,3-3,46-38,2 3,98-58,-151 99,45-27,1 3,1 2,77-24,157-28,-225 60,-54 14,45-12,73-8,-103 19,0 0,1 1,18 3,-29-2,0 0,0 1,-1 0,1 1,-1 0,1 0,-1 0,0 1,9 7,96 60,1 2,-91-57,0 1,-1 2,33 37,-43-42,-2-1,1 1,-2 0,0 1,-1 0,0 1,8 27,12 56,21 151,-6 382,-42-597,-2 0,-1 0,-13 55,13-77,-1 0,0 0,-1-1,-1 1,0-1,0-1,-1 1,-1-1,0 0,0-1,-1 0,-16 15,15-16,1 0,1 0,0 1,-9 14,10-15,1 0,-1 0,0 0,-1-1,0 0,-10 7,9-9,4-2,0 0,-1 0,1 0,-1-1,0 0,-1 0,1 0,0-1,-1 0,1 0,-13 1,-48-1,-1-2,1-3,-127-24,133 16,3 0,0 3,-84-2,-31 10,510-13,-318 11,-1 2,1 0,0 1,20 3,-30-2,0 0,-1 1,1 0,-1 0,1 1,-1 0,0 1,-1 0,1 0,10 10,59 66,-10-9,-36-44,3 5,63 47,-85-71,1-1,0-1,0 0,1-1,0 0,0-1,0-1,1 0,21 3,-5-2,26 2,-53-7,-1 0,1 0,0 0,-1-1,1 0,-1 1,1-1,-1-1,1 1,-1 0,1-1,5-3,5-7,0 0,-1-1,22-26,31-52,-40 54,36-52,122-155,-175 232,-2 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1:42:00.1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0 260,'3'0,"0"-1,0 1,0-1,-1 0,1 0,0 0,0 0,2-2,12-5,241-56,-161 43,314-87,-394 104,32-4,-35 6,0 0,0-1,23-8,-24 7,0 0,0 0,1 2,-1-1,20 0,71 5,-39 0,347-2,-306 9,-14-1,155-7,-126-2,-116 1,1 1,0-1,-1 1,1 0,-1 1,1-1,-1 1,0 0,0 0,10 6,-2 1,-1 0,18 18,-18-16,1 1,18 11,-26-20,0 1,-1 0,0 0,0 1,0-1,0 1,-1 0,0 0,0 0,0 0,0 1,-1-1,0 1,0-1,-1 1,1 0,-1 0,-1 0,1 9,0 12,-1 1,-9 51,8-64,-3 7,-1 1,0-1,-2-1,0 1,-1-1,-2 0,0-1,-1 0,-1-1,-1 0,-27 31,30-41,0 0,-1 0,-1-1,-22 12,-19 13,36-22,0-1,-1-1,0-1,-1 0,1-2,-26 6,-27 11,-14 9,7-1,-109 27,142-49,-90 5,-48-11,176-3,-9 0,0 2,0 0,0 0,0 2,-20 7,-76 34,72-28,-51 21,-150 87,104-45,136-80,0 1,-1-1,1 1,0-1,0 1,0 0,0 0,0 0,0-1,1 1,-1 0,0 0,0 0,1 1,-1-1,0 0,1 0,-1 1,1-1,0 0,1 0,-1-1,0 1,1 0,-1 0,1-1,-1 1,1 0,-1-1,1 1,-1 0,1-1,0 1,-1-1,1 1,0-1,-1 0,1 1,0-1,0 1,-1-1,1 0,0 0,0 0,0 1,-1-1,3 0,21 6,0 1,0 2,-1 0,-1 1,34 21,-50-28,-1 0,1-1,0 0,-1 0,10 2,15 5,180 86,34 14,119 47,-270-113,58 32,-21-8,236 77,-337-133,-2 0,0 1,0 1,-1 2,44 32,-33-17,-2 2,41 44,-54-55,-18-17,1 0,-1 0,0 0,0 1,0-1,3 6,2 7,-1-1,0 1,-2 0,0 1,7 32,-8-19,-2 0,0 50,-3-80,0 18,0 0,-2 0,-4 21,5-34,-1 1,0-1,-1 0,1 1,-1-1,-1-1,1 1,-1 0,0-1,0 0,0 0,-9 7,9-8,-3 3,0 0,-1-1,0 0,0 0,-1 0,0-1,0-1,0 1,-14 3,-96 29,-186 85,274-108,0-2,-1-1,0-1,0-2,-1-1,-67 5,59-7,0 2,-72 22,54-13,-319 78,191-49,15 3,-29 6,155-44,-81 5,60-8,-34 1,-154-9,240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2:06.2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 0,'2353'-50'0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1:43:35.6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0,'0'1396,"3"-1351,1-1,12 50,-5-35,40 220,-44-250,-2 1,-1 0,0 35,-3-45,1 1,6 27,-2-16,-6-30,0-1,0 0,0 1,1-1,-1 0,1 0,-1 1,0-1,1 0,0 0,-1 0,1 0,0 0,0 0,-1 0,1 0,0 0,0 0,0 0,0 0,0 0,0-1,1 1,-1-1,0 1,0 0,0-1,1 0,-1 1,0-1,0 0,1 0,-1 0,0 0,1 0,-1 0,0 0,0 0,1 0,-1 0,0-1,3 0,7-3,0 0,-1 0,1-1,11-8,0 1,504-192,-316 130,37-20,113-40,7 23,-180 62,97-23,-246 66,0 2,0 2,48 2,29-1,-92-1,-1-1,1-1,-1-2,36-12,85-44,-48 18,211-79,-284 115,0 1,0 0,25-3,-33 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3:38.8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0,'974'3027'0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5:39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0 255 22234,'5847'-254'0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5:49.3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22361,'10689'136'0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5:52.3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6553,'0'547'8170,"2"-527"-7686,0 1-1,1 0 0,9 30 1,4 23 582,-11-45-180,13 38-1,-11-43-213,-1 1 0,5 36 0,-4 57 226,-6-71-356,3 0 0,1 1 0,14 53-1,15 29-541,96 309 0,-93-324 0,34 176 0,-3 157 0,-52-323 0,-7-76 0,-5-31 0,-1 0 0,-1 0 0,0 0 0,-2 29 0,0-45 0,-1 1 0,1-1 0,-1 0 0,0 0 0,1 0 0,-1 0 0,0 0 0,0 0 0,-1-1 0,1 1 0,0 0 0,-1 0 0,1-1 0,-1 1 0,-1 1 0,-32 21 0,11-9 0,-173 148 0,191-158 0,0-1 0,-1 0 0,1 0 0,-1 0 0,-12 5 0,6-4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5:56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6553,'1'5'276,"-1"0"0,1-1 0,0 1 0,0-1 0,1 1 0,2 6-1,3 8 328,75 273 4637,-48-167-3840,38 215 2344,-51-221-1865,8 18-648,17 103 763,-23 195-1994,-24-386 0,3-1 0,1 1 0,16 81 0,-7-77 0,57 249 0,-22 4 0,-44-233 0,-3-50 0,1 0 0,1 0 0,5 27 0,-3-28 0,-1 0 0,-1 1 0,-1-1 0,-4 33 0,2-23 0,2 37 0,3-48 0,0 1 0,12 33 0,-2-7 0,45 204 0,-56-236 0,-1-1 0,-1 1 0,-1 17 0,0-19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00.9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0 376 23561,'10314'-375'0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15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18.4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15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18.4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15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18.4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15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18.4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15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6553,'0'0'0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9T01:46:18.4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EE85-5775-8DD5-888E-4D9365BBF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473A2-6F01-FC70-2AA4-2A2EFEB4D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1E0FA-0AB5-F017-35B4-4EA56E3CF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40F4C-0132-83F0-3C47-B43E3CFB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5A88B-23A7-A055-F4ED-CD02AE4A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5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2B6D-90AF-DA27-6028-45D237227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1B627-D965-59B6-F1EA-FA473A46A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4865D-8610-AEDA-596E-91A46E886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F5186-3A2A-B023-DEB9-DEBC2BCA7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B4B22-F06B-4AC6-8B84-702C1BE0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51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7B9A-FB84-B648-30BF-96338BE4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1D0C6-4102-6972-BF03-95E63DC2A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7ED5B-09F5-2EA9-A852-0CA18BBE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CD2CB-8BBD-D0DB-AAD2-0CEB55A70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09F70-20DF-CFC5-7404-4E04E7831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0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21FA6-5B19-A414-1470-E48CEC550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3151A-19BA-2F40-66E4-1B3A44CBF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78395-C811-1DAA-F7C9-E4011E3AF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23FF3-C1B1-90DB-1FDE-BC93C741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3C3C8-5037-77A3-F371-60F523900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D4B50-D7BA-F434-4F7B-B6693752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6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387D-F917-F1A8-D93B-048AEE06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9B5B7-7B2F-3A66-F40B-AF09C67D6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3F508-D469-02D5-5BB1-D6D6EE888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5D23C-EFF5-1E2F-A94B-0B0C0402C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9493A-C325-C9AA-72D1-FC32B620F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3E1B27-10A9-DA10-FDE5-4FAE96CF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82358-C366-FE31-5B9A-DB015586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D83E4B-FDF0-D4D7-9BD8-1F62A49F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5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B544-9E55-184E-7B3D-AF393D234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77B193-6660-4617-DC69-E0183BD11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C1988-6E34-4072-B62A-5BF2209F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AD4F5-5F52-9855-23EF-438A74F7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85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542C68-D6D3-01F6-3C9F-6EF5AD41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3C519-2E27-48E0-774F-8AB103042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9D29D-5003-919E-CB3A-1F9E8003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9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CBB0-2D11-8296-A09D-5AD07477D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208C0-0CF6-84A7-1679-23E2BF6E3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61AD1-D9D0-6CC9-B8A8-FE60D8A1A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47495-0400-D797-2B43-AD05A378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7A51D-D91E-22B8-1813-7AF5383D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47262-A431-69CB-00A7-29C6C2D1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6DF1C-A19A-540B-E032-86AE6403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7DDFE9-38D8-8F1F-F7E8-4E0D8D982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47CBC-C40E-50F8-20E3-922AC373A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B9D3A-180A-9C81-E37F-1EB466A7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CBDAA-1AB9-894C-D116-FB67B82EF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EF34D-8CC7-E94B-A481-305B36B5A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86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D57C-8EF0-8819-2126-9E009AB0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722BD-D5AD-DDBC-ED39-DBBF7204A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A08A-B4A9-21EE-CDB8-6F28C84B1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7469D-B460-E22B-41DB-4878B20B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4DB9A-8926-B56A-B91A-33B12723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31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84F0FC-8732-BCA8-3957-FF050A1DC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B5F0E-0927-D1FA-C1AC-D5FB8CD7F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5B6A5-58EB-9C7A-B049-D494FD2B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F7702-6C52-E369-E048-55E9B7F3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B5DCE-3D29-A581-A53C-B6007B9E0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70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36C16-2FCA-3397-7E12-FD240D20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18629-65B3-7003-5061-A4E2736D3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C2BF7-B54E-2DCA-C3F0-4F5E2BBDD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1EDFA-2D80-42CA-84AA-EAAE8B592275}" type="datetimeFigureOut">
              <a:rPr lang="en-US" smtClean="0"/>
              <a:t>2026-03-19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87B83-2CC4-5ED7-5774-4E930674A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3A05C-7323-655E-3FB9-AC495DC23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0168F7-6E63-40B8-A076-73D76602702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17309-5C72-C27C-CF01-2645FA0CAEB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7461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 - Public</a:t>
            </a:r>
          </a:p>
        </p:txBody>
      </p:sp>
    </p:spTree>
    <p:extLst>
      <p:ext uri="{BB962C8B-B14F-4D97-AF65-F5344CB8AC3E}">
        <p14:creationId xmlns:p14="http://schemas.microsoft.com/office/powerpoint/2010/main" val="20830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26" Type="http://schemas.openxmlformats.org/officeDocument/2006/relationships/customXml" Target="../ink/ink12.xml"/><Relationship Id="rId3" Type="http://schemas.openxmlformats.org/officeDocument/2006/relationships/customXml" Target="../ink/ink1.xml"/><Relationship Id="rId21" Type="http://schemas.openxmlformats.org/officeDocument/2006/relationships/image" Target="../media/image13.png"/><Relationship Id="rId34" Type="http://schemas.openxmlformats.org/officeDocument/2006/relationships/image" Target="../media/image20.png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image" Target="../media/image15.png"/><Relationship Id="rId33" Type="http://schemas.openxmlformats.org/officeDocument/2006/relationships/customXml" Target="../ink/ink15.xm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24" Type="http://schemas.openxmlformats.org/officeDocument/2006/relationships/customXml" Target="../ink/ink11.xml"/><Relationship Id="rId32" Type="http://schemas.openxmlformats.org/officeDocument/2006/relationships/image" Target="../media/image19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image" Target="../media/image14.png"/><Relationship Id="rId28" Type="http://schemas.openxmlformats.org/officeDocument/2006/relationships/customXml" Target="../ink/ink13.xml"/><Relationship Id="rId10" Type="http://schemas.openxmlformats.org/officeDocument/2006/relationships/image" Target="../media/image7.png"/><Relationship Id="rId19" Type="http://schemas.openxmlformats.org/officeDocument/2006/relationships/customXml" Target="../ink/ink9.xml"/><Relationship Id="rId31" Type="http://schemas.openxmlformats.org/officeDocument/2006/relationships/customXml" Target="../ink/ink14.xml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30" Type="http://schemas.openxmlformats.org/officeDocument/2006/relationships/image" Target="../media/image18.png"/><Relationship Id="rId8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customXml" Target="../ink/ink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customXml" Target="../ink/ink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D34A-74E6-938E-632A-A9A7A79A89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Hub Branch/Collaboration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62A49-F812-5898-8C92-59AAD168FD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6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C747-3A57-2518-3022-6E40B326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Branches Matter in Collaboration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E669-A9FD-323A-8928-4999DFB7D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(or master) branch = production-ready code (should always be deployable)</a:t>
            </a:r>
          </a:p>
          <a:p>
            <a:r>
              <a:rPr lang="en-US" dirty="0"/>
              <a:t>You </a:t>
            </a:r>
            <a:r>
              <a:rPr lang="en-US" b="1" dirty="0"/>
              <a:t>never</a:t>
            </a:r>
            <a:r>
              <a:rPr lang="en-US" dirty="0"/>
              <a:t> code directly on main in a team</a:t>
            </a:r>
          </a:p>
          <a:p>
            <a:r>
              <a:rPr lang="en-US" dirty="0"/>
              <a:t>Branches let multiple people work </a:t>
            </a:r>
            <a:r>
              <a:rPr lang="en-US" b="1" dirty="0"/>
              <a:t>simultaneously</a:t>
            </a:r>
            <a:r>
              <a:rPr lang="en-US" dirty="0"/>
              <a:t> without conflicts</a:t>
            </a:r>
          </a:p>
          <a:p>
            <a:r>
              <a:rPr lang="en-US" dirty="0"/>
              <a:t>Enable </a:t>
            </a:r>
            <a:r>
              <a:rPr lang="en-US" b="1" dirty="0"/>
              <a:t>code review</a:t>
            </a:r>
            <a:r>
              <a:rPr lang="en-US" dirty="0"/>
              <a:t>, discussion, and safe experimentation</a:t>
            </a:r>
          </a:p>
          <a:p>
            <a:r>
              <a:rPr lang="en-US" dirty="0"/>
              <a:t>Core question: "How do we let 5–50 people touch the same codebase/ or  file every day?"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824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3EB0-BCC6-212B-9727-0CE32B19D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GitHub Branch Concepts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4935F-8FDD-2426-A280-39C4424DB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main</a:t>
            </a:r>
            <a:r>
              <a:rPr lang="en-US" dirty="0"/>
              <a:t> (or </a:t>
            </a:r>
            <a:r>
              <a:rPr lang="en-US" b="1" dirty="0"/>
              <a:t>master</a:t>
            </a:r>
            <a:r>
              <a:rPr lang="en-US" dirty="0"/>
              <a:t>) → stable, production branch</a:t>
            </a:r>
          </a:p>
          <a:p>
            <a:r>
              <a:rPr lang="en-US" b="1" dirty="0"/>
              <a:t>Feature / topic branches</a:t>
            </a:r>
            <a:r>
              <a:rPr lang="en-US" dirty="0"/>
              <a:t> → short-lived, purpose-specific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98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FDFE-A5EB-B24E-0335-0FBF0CBA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GitHub Flow – The Modern Standard (Step-by-step)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B653-C5B4-D39D-16F8-5D80923CB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branch from </a:t>
            </a:r>
            <a:r>
              <a:rPr lang="en-US" b="1" dirty="0"/>
              <a:t>main  </a:t>
            </a:r>
            <a:r>
              <a:rPr lang="en-US" dirty="0"/>
              <a:t>git checkout -b feature/payment-stripe-integration</a:t>
            </a:r>
          </a:p>
          <a:p>
            <a:r>
              <a:rPr lang="en-US" dirty="0"/>
              <a:t>Work + commit often (small commits!)</a:t>
            </a:r>
          </a:p>
          <a:p>
            <a:r>
              <a:rPr lang="en-US" dirty="0"/>
              <a:t>Push branch regularly git push -u origin feature/payment-stripe-integration</a:t>
            </a:r>
          </a:p>
          <a:p>
            <a:r>
              <a:rPr lang="en-US" dirty="0"/>
              <a:t>Open </a:t>
            </a:r>
            <a:r>
              <a:rPr lang="en-US" b="1" dirty="0"/>
              <a:t>Pull Request</a:t>
            </a:r>
            <a:r>
              <a:rPr lang="en-US" dirty="0"/>
              <a:t> (PR) early (even if not finished)</a:t>
            </a:r>
          </a:p>
          <a:p>
            <a:r>
              <a:rPr lang="en-US" b="1" dirty="0"/>
              <a:t>Discuss + review</a:t>
            </a:r>
            <a:r>
              <a:rPr lang="en-US" dirty="0"/>
              <a:t> code in the PR</a:t>
            </a:r>
          </a:p>
          <a:p>
            <a:r>
              <a:rPr lang="en-US" dirty="0"/>
              <a:t>Run </a:t>
            </a:r>
            <a:r>
              <a:rPr lang="en-US" b="1" dirty="0"/>
              <a:t>CI checks</a:t>
            </a:r>
            <a:r>
              <a:rPr lang="en-US" dirty="0"/>
              <a:t> (tests, lint, security scan)</a:t>
            </a:r>
          </a:p>
          <a:p>
            <a:r>
              <a:rPr lang="en-US" dirty="0"/>
              <a:t>Merge (usually </a:t>
            </a:r>
            <a:r>
              <a:rPr lang="en-US" b="1" dirty="0"/>
              <a:t>squash &amp; merge</a:t>
            </a:r>
            <a:r>
              <a:rPr lang="en-US" dirty="0"/>
              <a:t> or </a:t>
            </a:r>
            <a:r>
              <a:rPr lang="en-US" b="1" dirty="0"/>
              <a:t>rebase &amp; merge</a:t>
            </a:r>
            <a:r>
              <a:rPr lang="en-US" dirty="0"/>
              <a:t>)</a:t>
            </a:r>
          </a:p>
          <a:p>
            <a:r>
              <a:rPr lang="en-US" dirty="0"/>
              <a:t>Delete branch (GitHub can do it automatically)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28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837A-8493-05A2-981D-7FC32E96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Pull Requests – The Heart of Collaboration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813AB-92EB-9E31-B1F3-0D7EEAE6F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Must-have PR settings (branch protection rules):</a:t>
            </a:r>
          </a:p>
          <a:p>
            <a:r>
              <a:rPr lang="en-US" dirty="0"/>
              <a:t>Require at least </a:t>
            </a:r>
            <a:r>
              <a:rPr lang="en-US" b="1" dirty="0"/>
              <a:t>1–2 approvals</a:t>
            </a:r>
            <a:endParaRPr lang="en-US" dirty="0"/>
          </a:p>
          <a:p>
            <a:r>
              <a:rPr lang="en-US" dirty="0"/>
              <a:t>Require status checks to pass (CI)</a:t>
            </a:r>
          </a:p>
          <a:p>
            <a:r>
              <a:rPr lang="en-US" dirty="0"/>
              <a:t>Dismiss stale approvals on new pushes</a:t>
            </a:r>
          </a:p>
          <a:p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allow direct pushes to main</a:t>
            </a:r>
          </a:p>
          <a:p>
            <a:r>
              <a:rPr lang="en-US" dirty="0"/>
              <a:t>(Optional) require linear history or rebase</a:t>
            </a:r>
          </a:p>
          <a:p>
            <a:r>
              <a:rPr lang="en-US" dirty="0">
                <a:effectLst/>
              </a:rPr>
              <a:t>Golden rules for great PRs:</a:t>
            </a:r>
          </a:p>
          <a:p>
            <a:r>
              <a:rPr lang="en-US" dirty="0"/>
              <a:t>Small PRs (&lt; 400 lines ideal)</a:t>
            </a:r>
          </a:p>
          <a:p>
            <a:r>
              <a:rPr lang="en-US" dirty="0"/>
              <a:t>Clear title: "Add user email verification with OTP"</a:t>
            </a:r>
          </a:p>
          <a:p>
            <a:r>
              <a:rPr lang="en-US" dirty="0"/>
              <a:t>Good description + screenshots</a:t>
            </a:r>
          </a:p>
          <a:p>
            <a:r>
              <a:rPr lang="en-US" dirty="0"/>
              <a:t>Link to issue/ticket</a:t>
            </a:r>
          </a:p>
          <a:p>
            <a:r>
              <a:rPr lang="en-US" dirty="0"/>
              <a:t>Self-review before asking 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2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4292C-71B2-F1B8-4EFE-F6905DEA5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Example :student.csv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1DDDF4-E060-E275-04A9-E469C36A2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212567"/>
              </p:ext>
            </p:extLst>
          </p:nvPr>
        </p:nvGraphicFramePr>
        <p:xfrm>
          <a:off x="432464" y="2354400"/>
          <a:ext cx="9822018" cy="3987972"/>
        </p:xfrm>
        <a:graphic>
          <a:graphicData uri="http://schemas.openxmlformats.org/drawingml/2006/table">
            <a:tbl>
              <a:tblPr/>
              <a:tblGrid>
                <a:gridCol w="2191353">
                  <a:extLst>
                    <a:ext uri="{9D8B030D-6E8A-4147-A177-3AD203B41FA5}">
                      <a16:colId xmlns:a16="http://schemas.microsoft.com/office/drawing/2014/main" val="1036147915"/>
                    </a:ext>
                  </a:extLst>
                </a:gridCol>
                <a:gridCol w="1144464">
                  <a:extLst>
                    <a:ext uri="{9D8B030D-6E8A-4147-A177-3AD203B41FA5}">
                      <a16:colId xmlns:a16="http://schemas.microsoft.com/office/drawing/2014/main" val="2085751944"/>
                    </a:ext>
                  </a:extLst>
                </a:gridCol>
                <a:gridCol w="1557901">
                  <a:extLst>
                    <a:ext uri="{9D8B030D-6E8A-4147-A177-3AD203B41FA5}">
                      <a16:colId xmlns:a16="http://schemas.microsoft.com/office/drawing/2014/main" val="1064301314"/>
                    </a:ext>
                  </a:extLst>
                </a:gridCol>
                <a:gridCol w="1518191">
                  <a:extLst>
                    <a:ext uri="{9D8B030D-6E8A-4147-A177-3AD203B41FA5}">
                      <a16:colId xmlns:a16="http://schemas.microsoft.com/office/drawing/2014/main" val="395295321"/>
                    </a:ext>
                  </a:extLst>
                </a:gridCol>
                <a:gridCol w="1891918">
                  <a:extLst>
                    <a:ext uri="{9D8B030D-6E8A-4147-A177-3AD203B41FA5}">
                      <a16:colId xmlns:a16="http://schemas.microsoft.com/office/drawing/2014/main" val="3791912108"/>
                    </a:ext>
                  </a:extLst>
                </a:gridCol>
                <a:gridCol w="1518191">
                  <a:extLst>
                    <a:ext uri="{9D8B030D-6E8A-4147-A177-3AD203B41FA5}">
                      <a16:colId xmlns:a16="http://schemas.microsoft.com/office/drawing/2014/main" val="3213469026"/>
                    </a:ext>
                  </a:extLst>
                </a:gridCol>
              </a:tblGrid>
              <a:tr h="3860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Name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DS Score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IT Score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 Skill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French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354508"/>
                  </a:ext>
                </a:extLst>
              </a:tr>
              <a:tr h="3860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Alice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123441"/>
                  </a:ext>
                </a:extLst>
              </a:tr>
              <a:tr h="3860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Bob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695036"/>
                  </a:ext>
                </a:extLst>
              </a:tr>
              <a:tr h="3860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Charlie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430470"/>
                  </a:ext>
                </a:extLst>
              </a:tr>
              <a:tr h="3860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Kofi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72007"/>
                  </a:ext>
                </a:extLst>
              </a:tr>
              <a:tr h="3860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Obeng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163196"/>
                  </a:ext>
                </a:extLst>
              </a:tr>
              <a:tr h="3860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Emma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794104"/>
                  </a:ext>
                </a:extLst>
              </a:tr>
              <a:tr h="3860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Godwin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42" marR="11642" marT="116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753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D70F-BF4D-D720-BFDE-D2A8E5DB6B9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Example :student.csv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9C1C-07A2-D1BC-CAF1-072AB7AD9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use the information to take me through the collaboration again, step by step: </a:t>
            </a:r>
          </a:p>
          <a:p>
            <a:r>
              <a:rPr lang="en-US" dirty="0">
                <a:effectLst/>
              </a:rPr>
              <a:t>Kofi is doing the Name and Age , </a:t>
            </a:r>
          </a:p>
          <a:p>
            <a:endParaRPr lang="en-US" dirty="0"/>
          </a:p>
          <a:p>
            <a:r>
              <a:rPr lang="en-US" dirty="0">
                <a:effectLst/>
              </a:rPr>
              <a:t>Ama is working on DS Score and IT Score and</a:t>
            </a:r>
          </a:p>
          <a:p>
            <a:r>
              <a:rPr lang="en-US" dirty="0">
                <a:effectLst/>
              </a:rPr>
              <a:t> Kojo is working on Comm Skills and French columns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54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FD3CE-0545-2A71-DBD6-AD5115804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891E8-0BF3-05B1-0E04-84EE3A57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Example :student.csv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C3C2079E-0BEC-0B02-78C1-621DB8D41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2000" b="1">
                <a:effectLst/>
              </a:rPr>
              <a:t>Roles (each person owns completely different columns):</a:t>
            </a:r>
            <a:endParaRPr lang="en-US" sz="200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Kofi</a:t>
            </a:r>
            <a:r>
              <a:rPr lang="en-US" sz="2000"/>
              <a:t> → fills </a:t>
            </a:r>
            <a:r>
              <a:rPr lang="en-US" sz="2000" b="1"/>
              <a:t>Name + Age</a:t>
            </a:r>
            <a:r>
              <a:rPr lang="en-US" sz="2000"/>
              <a:t> (he has the list)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Ama</a:t>
            </a:r>
            <a:r>
              <a:rPr lang="en-US" sz="2000"/>
              <a:t> → fills </a:t>
            </a:r>
            <a:r>
              <a:rPr lang="en-US" sz="2000" b="1"/>
              <a:t>DS Score + IT Score</a:t>
            </a:r>
            <a:endParaRPr 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/>
              <a:t>Kojo</a:t>
            </a:r>
            <a:r>
              <a:rPr lang="en-US" sz="2000"/>
              <a:t> → fills </a:t>
            </a:r>
            <a:r>
              <a:rPr lang="en-US" sz="2000" b="1"/>
              <a:t>Comm Skills + French</a:t>
            </a:r>
            <a:endParaRPr lang="en-US" sz="2000"/>
          </a:p>
          <a:p>
            <a:pPr>
              <a:buNone/>
            </a:pPr>
            <a:r>
              <a:rPr lang="en-US" sz="2000">
                <a:effectLst/>
              </a:rPr>
              <a:t>All three work </a:t>
            </a:r>
            <a:r>
              <a:rPr lang="en-US" sz="2000" b="1">
                <a:effectLst/>
              </a:rPr>
              <a:t>at the same time</a:t>
            </a:r>
            <a:r>
              <a:rPr lang="en-US" sz="2000">
                <a:effectLst/>
              </a:rPr>
              <a:t> on different columns → Git merges everything perfectly with zero manual conflict.</a:t>
            </a:r>
          </a:p>
        </p:txBody>
      </p:sp>
    </p:spTree>
    <p:extLst>
      <p:ext uri="{BB962C8B-B14F-4D97-AF65-F5344CB8AC3E}">
        <p14:creationId xmlns:p14="http://schemas.microsoft.com/office/powerpoint/2010/main" val="1962540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4EE00-A43E-AA14-2A30-C74F71904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EB2358-716B-C81B-2E4A-FB807C8D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 the  right local repository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E1ABC7-58B4-2D55-6C1B-2D632B6B2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1664" y="2258234"/>
            <a:ext cx="8701385" cy="4394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F2A59C-F8F8-7050-45B3-560D912207DA}"/>
              </a:ext>
            </a:extLst>
          </p:cNvPr>
          <p:cNvSpPr txBox="1"/>
          <p:nvPr/>
        </p:nvSpPr>
        <p:spPr>
          <a:xfrm>
            <a:off x="4265154" y="1822663"/>
            <a:ext cx="2367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 :   cd  c:\dsweek6</a:t>
            </a:r>
          </a:p>
        </p:txBody>
      </p:sp>
    </p:spTree>
    <p:extLst>
      <p:ext uri="{BB962C8B-B14F-4D97-AF65-F5344CB8AC3E}">
        <p14:creationId xmlns:p14="http://schemas.microsoft.com/office/powerpoint/2010/main" val="428910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44FD-6F41-6874-08D7-DEA7559D0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Initiating Git (local)Repositories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33BBE-ABAB-FB05-AACF-61998ED4E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Use:  git  </a:t>
            </a:r>
            <a:r>
              <a:rPr lang="en-US" dirty="0" err="1"/>
              <a:t>init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DCAE9-4E43-CE53-51AF-42E992DE6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223" y="2559712"/>
            <a:ext cx="8865056" cy="386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063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8BFC-FB39-6BBB-98CD-D992BF0B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git hub repository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0CCFB-D507-D8BD-F60D-C28F375F2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474334" cy="28639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7B0273E-B319-9CF2-E857-53F662442CA5}"/>
                  </a:ext>
                </a:extLst>
              </p14:cNvPr>
              <p14:cNvContentPartPr/>
              <p14:nvPr/>
            </p14:nvContentPartPr>
            <p14:xfrm>
              <a:off x="2359247" y="1570342"/>
              <a:ext cx="720" cy="840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7B0273E-B319-9CF2-E857-53F662442C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47007" y="1564222"/>
                <a:ext cx="25200" cy="85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BE8E212-11E2-596E-9C35-B6D74CF5BC75}"/>
              </a:ext>
            </a:extLst>
          </p:cNvPr>
          <p:cNvGrpSpPr/>
          <p:nvPr/>
        </p:nvGrpSpPr>
        <p:grpSpPr>
          <a:xfrm>
            <a:off x="2375087" y="1478542"/>
            <a:ext cx="1575360" cy="1026000"/>
            <a:chOff x="2375087" y="1478542"/>
            <a:chExt cx="1575360" cy="102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E059551-ACA8-67CA-009E-AEEF6EC882E1}"/>
                    </a:ext>
                  </a:extLst>
                </p14:cNvPr>
                <p14:cNvContentPartPr/>
                <p14:nvPr/>
              </p14:nvContentPartPr>
              <p14:xfrm>
                <a:off x="2375087" y="1478542"/>
                <a:ext cx="1447560" cy="123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E059551-ACA8-67CA-009E-AEEF6EC882E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68967" y="1472422"/>
                  <a:ext cx="1459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BFB39F3-FECF-459F-25DA-27D65400DA2E}"/>
                    </a:ext>
                  </a:extLst>
                </p14:cNvPr>
                <p14:cNvContentPartPr/>
                <p14:nvPr/>
              </p14:nvContentPartPr>
              <p14:xfrm>
                <a:off x="3872327" y="1626142"/>
                <a:ext cx="3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BFB39F3-FECF-459F-25DA-27D65400DA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66207" y="162002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3DB903D-88F5-43BE-8A7E-2716E8DE2656}"/>
                    </a:ext>
                  </a:extLst>
                </p14:cNvPr>
                <p14:cNvContentPartPr/>
                <p14:nvPr/>
              </p14:nvContentPartPr>
              <p14:xfrm>
                <a:off x="3841367" y="1626142"/>
                <a:ext cx="109080" cy="791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3DB903D-88F5-43BE-8A7E-2716E8DE265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35247" y="1620022"/>
                  <a:ext cx="12132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EA2407-DA34-D02A-E7E2-E6C4ED2B6903}"/>
                    </a:ext>
                  </a:extLst>
                </p14:cNvPr>
                <p14:cNvContentPartPr/>
                <p14:nvPr/>
              </p14:nvContentPartPr>
              <p14:xfrm>
                <a:off x="2381567" y="2410942"/>
                <a:ext cx="1515600" cy="93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EA2407-DA34-D02A-E7E2-E6C4ED2B690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75447" y="2404822"/>
                  <a:ext cx="152784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FD0EE9F-D48B-4061-60FE-9F3FDC044A1A}"/>
                  </a:ext>
                </a:extLst>
              </p14:cNvPr>
              <p14:cNvContentPartPr/>
              <p14:nvPr/>
            </p14:nvContentPartPr>
            <p14:xfrm>
              <a:off x="2687567" y="2970022"/>
              <a:ext cx="81000" cy="736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FD0EE9F-D48B-4061-60FE-9F3FDC044A1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69927" y="2952382"/>
                <a:ext cx="116640" cy="7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06A0D1C-E438-7532-A9D1-4A2D834FDC88}"/>
                  </a:ext>
                </a:extLst>
              </p14:cNvPr>
              <p14:cNvContentPartPr/>
              <p14:nvPr/>
            </p14:nvContentPartPr>
            <p14:xfrm>
              <a:off x="2681807" y="2907742"/>
              <a:ext cx="1423440" cy="118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06A0D1C-E438-7532-A9D1-4A2D834FDC8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663807" y="2889742"/>
                <a:ext cx="14590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AB79747-41C8-B772-A35B-D0E5CC6CFA99}"/>
                  </a:ext>
                </a:extLst>
              </p14:cNvPr>
              <p14:cNvContentPartPr/>
              <p14:nvPr/>
            </p14:nvContentPartPr>
            <p14:xfrm>
              <a:off x="4105247" y="3025462"/>
              <a:ext cx="6480" cy="705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AB79747-41C8-B772-A35B-D0E5CC6CFA9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87607" y="3007462"/>
                <a:ext cx="42120" cy="7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E469076-2D85-4A6F-51A9-3CAF8A17DA39}"/>
                  </a:ext>
                </a:extLst>
              </p14:cNvPr>
              <p14:cNvContentPartPr/>
              <p14:nvPr/>
            </p14:nvContentPartPr>
            <p14:xfrm>
              <a:off x="2761367" y="3761662"/>
              <a:ext cx="1307520" cy="6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E469076-2D85-4A6F-51A9-3CAF8A17DA3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43367" y="3743662"/>
                <a:ext cx="134316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660AADAA-72D3-C071-1B6B-A42D62A6AFD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981" y="4137776"/>
            <a:ext cx="7544188" cy="23623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C994F5F-D297-7D35-AE13-19CD9378FFF1}"/>
                  </a:ext>
                </a:extLst>
              </p14:cNvPr>
              <p14:cNvContentPartPr/>
              <p14:nvPr/>
            </p14:nvContentPartPr>
            <p14:xfrm>
              <a:off x="4982927" y="1589062"/>
              <a:ext cx="30960" cy="5097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C994F5F-D297-7D35-AE13-19CD9378FFF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28927" y="1481062"/>
                <a:ext cx="138600" cy="72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D505067-EE6C-1F7D-EFD2-4F5F1B0037DD}"/>
                  </a:ext>
                </a:extLst>
              </p14:cNvPr>
              <p14:cNvContentPartPr/>
              <p14:nvPr/>
            </p14:nvContentPartPr>
            <p14:xfrm>
              <a:off x="5191727" y="2754382"/>
              <a:ext cx="772200" cy="823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D505067-EE6C-1F7D-EFD2-4F5F1B0037D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37727" y="2646742"/>
                <a:ext cx="879840" cy="10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4F659FF-2246-8142-BBF8-3CD42A05C784}"/>
                  </a:ext>
                </a:extLst>
              </p14:cNvPr>
              <p14:cNvContentPartPr/>
              <p14:nvPr/>
            </p14:nvContentPartPr>
            <p14:xfrm>
              <a:off x="5547767" y="5239462"/>
              <a:ext cx="994680" cy="12722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4F659FF-2246-8142-BBF8-3CD42A05C78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93767" y="5131462"/>
                <a:ext cx="1102320" cy="148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59D9624-B903-4163-1EEE-F1C55C2698D9}"/>
                  </a:ext>
                </a:extLst>
              </p14:cNvPr>
              <p14:cNvContentPartPr/>
              <p14:nvPr/>
            </p14:nvContentPartPr>
            <p14:xfrm>
              <a:off x="5345087" y="3467182"/>
              <a:ext cx="847440" cy="18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59D9624-B903-4163-1EEE-F1C55C2698D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91087" y="3359542"/>
                <a:ext cx="955080" cy="23400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9C3DD7CC-F229-D132-3FE6-87427637292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512807" y="149062"/>
            <a:ext cx="5511531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009120F-FC96-4B44-95DD-C5C45E546764}"/>
                  </a:ext>
                </a:extLst>
              </p14:cNvPr>
              <p14:cNvContentPartPr/>
              <p14:nvPr/>
            </p14:nvContentPartPr>
            <p14:xfrm>
              <a:off x="10440449" y="4196244"/>
              <a:ext cx="1283760" cy="7999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009120F-FC96-4B44-95DD-C5C45E54676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386449" y="4088244"/>
                <a:ext cx="1391400" cy="10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B99A723-6F9F-4C76-9E32-F4E1CFA96C24}"/>
                  </a:ext>
                </a:extLst>
              </p14:cNvPr>
              <p14:cNvContentPartPr/>
              <p14:nvPr/>
            </p14:nvContentPartPr>
            <p14:xfrm>
              <a:off x="10978649" y="4070604"/>
              <a:ext cx="351000" cy="10900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B99A723-6F9F-4C76-9E32-F4E1CFA96C2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925009" y="3962964"/>
                <a:ext cx="458640" cy="130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846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425E1-676A-1384-1EF4-B4616E9D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git hub repository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D2F12F-4F49-DC50-584D-326E639B2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2029" y="1647655"/>
            <a:ext cx="5213117" cy="48452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2E297B6-AEE7-AF34-FBDF-97C4EC8BF984}"/>
                  </a:ext>
                </a:extLst>
              </p14:cNvPr>
              <p14:cNvContentPartPr/>
              <p14:nvPr/>
            </p14:nvContentPartPr>
            <p14:xfrm>
              <a:off x="2706287" y="5013742"/>
              <a:ext cx="2105280" cy="9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2E297B6-AEE7-AF34-FBDF-97C4EC8BF9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0167" y="5007622"/>
                <a:ext cx="21175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83266F6-1EB2-308E-6665-A674D3A36718}"/>
                  </a:ext>
                </a:extLst>
              </p14:cNvPr>
              <p14:cNvContentPartPr/>
              <p14:nvPr/>
            </p14:nvContentPartPr>
            <p14:xfrm>
              <a:off x="2736527" y="5068822"/>
              <a:ext cx="3848400" cy="49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83266F6-1EB2-308E-6665-A674D3A367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8887" y="5050822"/>
                <a:ext cx="38840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96EFA2F-63CE-318F-368B-1BD227BD39E7}"/>
                  </a:ext>
                </a:extLst>
              </p14:cNvPr>
              <p14:cNvContentPartPr/>
              <p14:nvPr/>
            </p14:nvContentPartPr>
            <p14:xfrm>
              <a:off x="6584927" y="5117782"/>
              <a:ext cx="178200" cy="1183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96EFA2F-63CE-318F-368B-1BD227BD39E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66927" y="5100142"/>
                <a:ext cx="213840" cy="12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1DB54FF-7FDF-615B-8D48-1EB20FF1B145}"/>
                  </a:ext>
                </a:extLst>
              </p14:cNvPr>
              <p14:cNvContentPartPr/>
              <p14:nvPr/>
            </p14:nvContentPartPr>
            <p14:xfrm>
              <a:off x="2736887" y="5093662"/>
              <a:ext cx="215640" cy="1300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1DB54FF-7FDF-615B-8D48-1EB20FF1B1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887" y="5075662"/>
                <a:ext cx="251280" cy="13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6DB85B3-66BA-CAD1-B29C-8497DE1E83DA}"/>
                  </a:ext>
                </a:extLst>
              </p14:cNvPr>
              <p14:cNvContentPartPr/>
              <p14:nvPr/>
            </p14:nvContentPartPr>
            <p14:xfrm>
              <a:off x="3025247" y="6283822"/>
              <a:ext cx="3713400" cy="135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6DB85B3-66BA-CAD1-B29C-8497DE1E83D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07247" y="6266182"/>
                <a:ext cx="3749040" cy="17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8674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B8EC-6FB8-E64A-08C2-307CF3BC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3E181-0D2E-2EDD-EF72-A3D028E5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git hub </a:t>
            </a:r>
            <a:r>
              <a:rPr lang="en-US" dirty="0" err="1"/>
              <a:t>repository:Copy</a:t>
            </a:r>
            <a:r>
              <a:rPr lang="en-US" dirty="0"/>
              <a:t> the codes</a:t>
            </a:r>
            <a:br>
              <a:rPr lang="en-US" dirty="0"/>
            </a:br>
            <a:r>
              <a:rPr lang="en-US" dirty="0"/>
              <a:t>note  the  slight  change of </a:t>
            </a:r>
            <a:r>
              <a:rPr lang="en-US" dirty="0">
                <a:highlight>
                  <a:srgbClr val="FFFF00"/>
                </a:highlight>
              </a:rPr>
              <a:t>git add 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83D8F84-E2CC-6CB9-B5F8-FFBE6AEB1976}"/>
                  </a:ext>
                </a:extLst>
              </p14:cNvPr>
              <p14:cNvContentPartPr/>
              <p14:nvPr/>
            </p14:nvContentPartPr>
            <p14:xfrm>
              <a:off x="3350327" y="357770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83D8F84-E2CC-6CB9-B5F8-FFBE6AEB19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2687" y="35597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70047D-96FA-5BF6-5448-391DC2F60AE6}"/>
                  </a:ext>
                </a:extLst>
              </p14:cNvPr>
              <p14:cNvContentPartPr/>
              <p14:nvPr/>
            </p14:nvContentPartPr>
            <p14:xfrm>
              <a:off x="4792487" y="3872182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70047D-96FA-5BF6-5448-391DC2F60A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4847" y="3854542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A5FCDE3-6203-9E00-515C-840005FB653C}"/>
              </a:ext>
            </a:extLst>
          </p:cNvPr>
          <p:cNvSpPr txBox="1"/>
          <p:nvPr/>
        </p:nvSpPr>
        <p:spPr>
          <a:xfrm>
            <a:off x="1313299" y="1902020"/>
            <a:ext cx="6112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echo "# dsweek6" &gt;&gt; README.md</a:t>
            </a:r>
          </a:p>
          <a:p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r>
              <a:rPr lang="en-US" dirty="0"/>
              <a:t>git add .</a:t>
            </a:r>
          </a:p>
          <a:p>
            <a:r>
              <a:rPr lang="en-US" dirty="0"/>
              <a:t>git commit -m "first commit"</a:t>
            </a:r>
          </a:p>
          <a:p>
            <a:r>
              <a:rPr lang="en-US" dirty="0"/>
              <a:t>git branch -M main</a:t>
            </a:r>
          </a:p>
          <a:p>
            <a:r>
              <a:rPr lang="en-US" dirty="0"/>
              <a:t>git remote add origin https://github.com/gntowdanso/dsweek6.git</a:t>
            </a:r>
          </a:p>
          <a:p>
            <a:r>
              <a:rPr lang="en-US" dirty="0"/>
              <a:t>git push -u origin main</a:t>
            </a:r>
          </a:p>
        </p:txBody>
      </p:sp>
    </p:spTree>
    <p:extLst>
      <p:ext uri="{BB962C8B-B14F-4D97-AF65-F5344CB8AC3E}">
        <p14:creationId xmlns:p14="http://schemas.microsoft.com/office/powerpoint/2010/main" val="2402015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BAD8A-2A8A-D6B6-4948-0B127A0A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6CFF-1C04-461D-3B5E-9A433313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Paste  at  the local repository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DC2188-485E-7E21-CEB6-0FBE7CE9E58D}"/>
                  </a:ext>
                </a:extLst>
              </p14:cNvPr>
              <p14:cNvContentPartPr/>
              <p14:nvPr/>
            </p14:nvContentPartPr>
            <p14:xfrm>
              <a:off x="3350327" y="357770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DC2188-485E-7E21-CEB6-0FBE7CE9E5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2327" y="35597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E2CAF2F-E54C-0243-A939-73A66A069ED9}"/>
                  </a:ext>
                </a:extLst>
              </p14:cNvPr>
              <p14:cNvContentPartPr/>
              <p14:nvPr/>
            </p14:nvContentPartPr>
            <p14:xfrm>
              <a:off x="4792487" y="3872182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E2CAF2F-E54C-0243-A939-73A66A069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4487" y="3854182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D6849F8-5CBF-1FA3-49B3-5F17B4216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302" y="1690688"/>
            <a:ext cx="7963309" cy="394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82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7616-1FEF-3893-29BF-F325D331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BB98-606E-210E-E146-3BE8133F2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  the Authorization and </a:t>
            </a:r>
            <a:r>
              <a:rPr lang="en-US" dirty="0" err="1"/>
              <a:t>click:continue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8C70D2-AA52-D5C1-2A5D-543B123A7FBF}"/>
                  </a:ext>
                </a:extLst>
              </p14:cNvPr>
              <p14:cNvContentPartPr/>
              <p14:nvPr/>
            </p14:nvContentPartPr>
            <p14:xfrm>
              <a:off x="3350327" y="357770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8C70D2-AA52-D5C1-2A5D-543B123A7F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2327" y="35597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070C6D-9047-8E66-82A5-61AF63FC73A2}"/>
                  </a:ext>
                </a:extLst>
              </p14:cNvPr>
              <p14:cNvContentPartPr/>
              <p14:nvPr/>
            </p14:nvContentPartPr>
            <p14:xfrm>
              <a:off x="4792487" y="3872182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070C6D-9047-8E66-82A5-61AF63FC73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4487" y="3854182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7CD4214-3FCE-6FF5-5247-072C4E21A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621" y="1361300"/>
            <a:ext cx="4000706" cy="383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828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501E-8C72-C86B-F5C5-FB678435C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92A1-5A79-9B19-BECF-44915ED5D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repository should look like below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113CE8-825A-B201-8BA2-D430C7431D5B}"/>
                  </a:ext>
                </a:extLst>
              </p14:cNvPr>
              <p14:cNvContentPartPr/>
              <p14:nvPr/>
            </p14:nvContentPartPr>
            <p14:xfrm>
              <a:off x="3350327" y="357770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113CE8-825A-B201-8BA2-D430C7431D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2327" y="35597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A89FA81-3D6A-7755-A2B9-D570FDAB1B61}"/>
                  </a:ext>
                </a:extLst>
              </p14:cNvPr>
              <p14:cNvContentPartPr/>
              <p14:nvPr/>
            </p14:nvContentPartPr>
            <p14:xfrm>
              <a:off x="4792487" y="3872182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A89FA81-3D6A-7755-A2B9-D570FDAB1B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4487" y="3854182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9206A2D-E3BD-D1D3-C6AC-E3A95A5FF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6133" y="1690688"/>
            <a:ext cx="6331275" cy="214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61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A44E9-B3ED-440E-E3D3-53673C9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7E6FB-C55B-E048-2B4F-CB86A3CC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Online(Git hub)  repository  should  like  below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734C53-3BE1-4E59-7279-1E02EDD3F61D}"/>
                  </a:ext>
                </a:extLst>
              </p14:cNvPr>
              <p14:cNvContentPartPr/>
              <p14:nvPr/>
            </p14:nvContentPartPr>
            <p14:xfrm>
              <a:off x="3350327" y="357770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734C53-3BE1-4E59-7279-1E02EDD3F6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2327" y="355970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CF872C-09D9-26A6-B513-47B5E515D577}"/>
                  </a:ext>
                </a:extLst>
              </p14:cNvPr>
              <p14:cNvContentPartPr/>
              <p14:nvPr/>
            </p14:nvContentPartPr>
            <p14:xfrm>
              <a:off x="4792487" y="3872182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CF872C-09D9-26A6-B513-47B5E515D5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4487" y="3854182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12A4150-8631-794A-1DF4-C4DF5244D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710" y="1399216"/>
            <a:ext cx="10306580" cy="489695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5B6EC4-0AFD-44E2-A812-E4B5AB68FEB5}"/>
              </a:ext>
            </a:extLst>
          </p:cNvPr>
          <p:cNvCxnSpPr/>
          <p:nvPr/>
        </p:nvCxnSpPr>
        <p:spPr>
          <a:xfrm flipH="1">
            <a:off x="3399850" y="2988677"/>
            <a:ext cx="2859801" cy="1834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370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70EB1-4D37-9407-FA73-D18E555D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  Collaboration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DB54B6F-8814-AA18-2A81-0976CAD068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025979"/>
            <a:ext cx="11327549" cy="433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76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B1046-B87C-20F7-8F00-72E6B7E4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7D702D1-402A-F629-8724-0D47701AD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71DF0F-2CBC-E7DC-64DD-55BD12D61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D78072-F0B2-AAA1-FB49-F9FFCB9F7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D1F015-AF27-7A70-5897-65E8244C1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46CCE-27D0-A958-6E4F-3C97E36EB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  Collaboration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601B10-BE3E-268E-197C-537916008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606515"/>
            <a:ext cx="11327549" cy="317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75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92FBE-2645-E462-7E4A-CD9894BA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A5FF86-9E26-8901-DF18-37E6CE040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295A1B-8402-B9D7-C06D-16DAD69C6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8E5F14-14F7-5E64-7867-680EFFEA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A1D56C-549D-A1B5-6D7E-EB31DB014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220FE-69A0-4D5B-FA48-AE3C38A6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  Collaboration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731E19-035C-E39F-F54A-3250150FB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3" y="2228010"/>
            <a:ext cx="8879002" cy="35298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5ED220-AFF4-4465-3974-84EC3EEA3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365" y="3988635"/>
            <a:ext cx="6185855" cy="19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80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4832D-10CE-B36D-976A-9BC10F81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1EF2BA-441C-BB75-27A2-1E632781A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E05B74-1478-B8AC-2035-9F7E140CF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9DADFF-BC02-DE91-4513-6CB331AF7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EF9098-6E26-0FDD-4D32-A07275F2D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A4FBB-B29E-DAD7-AEB6-3617B4DAA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  Collaboration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C6BB1-751B-D980-341F-7DDF1F061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14" y="2035494"/>
            <a:ext cx="4845299" cy="17526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A9EA6D-ECED-0995-EB4F-600360E62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604" y="1655276"/>
            <a:ext cx="4076910" cy="38673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510AA1-57C6-3F95-299D-3652EE55F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55" y="4351492"/>
            <a:ext cx="4940554" cy="9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225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B4A77E-A8EB-7493-8CE7-54ECF8592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Kofi  commit the   changes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BDBD15-CDF8-BD09-10B8-6ABE3F4A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15" y="1669143"/>
            <a:ext cx="6651691" cy="2760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DD7C39-5901-9514-EF86-DE99DCA3D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953" y="1990582"/>
            <a:ext cx="4600354" cy="644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E215CB-764D-9D66-67E0-50448E993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23" y="4369633"/>
            <a:ext cx="7702946" cy="336846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4EDEE9-25DE-D654-56ED-03F8B5E55524}"/>
              </a:ext>
            </a:extLst>
          </p:cNvPr>
          <p:cNvCxnSpPr/>
          <p:nvPr/>
        </p:nvCxnSpPr>
        <p:spPr>
          <a:xfrm flipH="1">
            <a:off x="3522689" y="4429593"/>
            <a:ext cx="1124262" cy="1304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310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BB8A4-EF40-A928-7693-FA2449E9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500AFCD-A90F-22EA-A4B0-25E1D1A8E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EB8313C-9DDD-21CC-EA03-813F9B6F4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223B975-A961-D6FF-67DE-B48B1314C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1AFDE36-F542-162D-F820-BFE64C5C9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7B5154B-762D-1931-0F1F-AED5B748C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DEEDCD1-2F30-F7C8-07CD-0765D71DC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Kofi  commit the   changes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909C63-9F3A-0FB4-9D08-004E5A371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7" y="1349829"/>
            <a:ext cx="7702946" cy="336846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3B2CE1-FED4-E8D8-C726-82664FAD5959}"/>
              </a:ext>
            </a:extLst>
          </p:cNvPr>
          <p:cNvCxnSpPr/>
          <p:nvPr/>
        </p:nvCxnSpPr>
        <p:spPr>
          <a:xfrm flipH="1">
            <a:off x="3522689" y="4429593"/>
            <a:ext cx="1124262" cy="1304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896442D-B5B2-1ADF-EF71-6BC0FCC5B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9258"/>
            <a:ext cx="11430587" cy="525807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2FF51F-C01D-A30E-E6CB-CFB0960F35DB}"/>
              </a:ext>
            </a:extLst>
          </p:cNvPr>
          <p:cNvCxnSpPr/>
          <p:nvPr/>
        </p:nvCxnSpPr>
        <p:spPr>
          <a:xfrm flipH="1">
            <a:off x="1656966" y="3847844"/>
            <a:ext cx="3123689" cy="1810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587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2333-6372-D4FE-71FA-71703607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  start her own 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7E2186-95F4-B8BD-9042-81C491AF8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778" y="2003763"/>
            <a:ext cx="4915153" cy="200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50CA4-410D-E925-CD99-12BD2E3A1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0990-C683-8AD2-60FB-18FF9C6D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  start her complete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3729B1D-6BD2-B589-45B4-C1D1CE3EB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2513" y="1442367"/>
            <a:ext cx="4407126" cy="1816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2C8B9-77AE-855A-2C6D-7623FB6D1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73104"/>
            <a:ext cx="6274122" cy="14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9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9ADB-9C7C-64B2-D73D-BF691EA9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Kojo  Start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41F9D6-6DE9-962E-1DC9-0631E4D5F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0712" y="1885053"/>
            <a:ext cx="5359675" cy="194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82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03E4F-7ED8-C0E5-3431-2B00B2ECD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FB8A-0DD3-8605-64EC-74CEBD36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Kojo  Complete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E0A4A-76F7-4EC1-A8E4-795BA0A3C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67" y="1841418"/>
            <a:ext cx="6915505" cy="158758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B5C432-0290-8D59-2BAD-9E33D7EC3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792179"/>
              </p:ext>
            </p:extLst>
          </p:nvPr>
        </p:nvGraphicFramePr>
        <p:xfrm>
          <a:off x="6351406" y="846751"/>
          <a:ext cx="3797300" cy="14732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1832186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333328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047641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30699524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3263823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7199572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DS Score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IT Score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 Skill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French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2968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Bob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1300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Sunk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1315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Mofi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8945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Yoo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6977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Kaka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1028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Samuel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078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Ohene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920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322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87650-2A34-8327-831B-1E79C266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 the files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2A405D-087B-E1F5-D5E8-16A524F5E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7954" y="2401012"/>
            <a:ext cx="6636091" cy="320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92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F443F-028E-23F5-6B21-BE0D4295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767B-982A-D7F2-6D58-8879F823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 the files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6BA2A6-66E0-7A83-5D69-4D224CF0D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25" y="1591544"/>
            <a:ext cx="6636091" cy="32005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E7D7A-1B1C-3BE9-A5DE-1F0BC2D38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4" y="1323395"/>
            <a:ext cx="5143764" cy="2292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9478FF-2356-67FB-C3E1-1F78B98AB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435" y="4253579"/>
            <a:ext cx="5893103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72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B8EF2-12A3-26DA-0FED-E5C1BE858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9DFED0-F1C3-8BEE-13C7-99366E92D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9658" y="1832922"/>
            <a:ext cx="4845299" cy="2178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7F11F4-4957-D253-4925-3769A0FDBE92}"/>
              </a:ext>
            </a:extLst>
          </p:cNvPr>
          <p:cNvSpPr txBox="1"/>
          <p:nvPr/>
        </p:nvSpPr>
        <p:spPr>
          <a:xfrm>
            <a:off x="2203793" y="4293882"/>
            <a:ext cx="61122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r>
              <a:rPr lang="en-US" b="1"/>
              <a:t>All worked Smoothly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person edited </a:t>
            </a:r>
            <a:r>
              <a:rPr lang="en-US" b="1" dirty="0"/>
              <a:t>different columns</a:t>
            </a:r>
            <a:r>
              <a:rPr lang="en-US" dirty="0"/>
              <a:t> → Git treats them as non-conflicting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Rebase automatically stitched everything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one waited for anyone else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work happened in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 visibility &amp; approval via Pull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 stays clean and always up-to-date</a:t>
            </a:r>
          </a:p>
        </p:txBody>
      </p:sp>
    </p:spTree>
    <p:extLst>
      <p:ext uri="{BB962C8B-B14F-4D97-AF65-F5344CB8AC3E}">
        <p14:creationId xmlns:p14="http://schemas.microsoft.com/office/powerpoint/2010/main" val="35901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bb8c0a-13a3-4a50-8c81-ac259c1da214}" enabled="1" method="Privileged" siteId="{2f03436d-45af-4de9-86d8-2b058049c321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662</Words>
  <Application>Microsoft Office PowerPoint</Application>
  <PresentationFormat>Widescreen</PresentationFormat>
  <Paragraphs>151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Aptos Narrow</vt:lpstr>
      <vt:lpstr>Arial</vt:lpstr>
      <vt:lpstr>Office Theme</vt:lpstr>
      <vt:lpstr>Git Hub Branch/Collaboration</vt:lpstr>
      <vt:lpstr>Why Branches Matter in Collaboration </vt:lpstr>
      <vt:lpstr>Core GitHub Branch Concepts </vt:lpstr>
      <vt:lpstr>GitHub Flow – The Modern Standard (Step-by-step) </vt:lpstr>
      <vt:lpstr>Pull Requests – The Heart of Collaboration </vt:lpstr>
      <vt:lpstr>Example :student.csv</vt:lpstr>
      <vt:lpstr>Example :student.csv</vt:lpstr>
      <vt:lpstr>Example :student.csv</vt:lpstr>
      <vt:lpstr>In the  right local repository</vt:lpstr>
      <vt:lpstr>Initiating Git (local)Repositories</vt:lpstr>
      <vt:lpstr>Create git hub repository</vt:lpstr>
      <vt:lpstr>Create git hub repository</vt:lpstr>
      <vt:lpstr>Create git hub repository:Copy the codes note  the  slight  change of git add .</vt:lpstr>
      <vt:lpstr>Paste  at  the local repository</vt:lpstr>
      <vt:lpstr>Accept  the Authorization and click:continue</vt:lpstr>
      <vt:lpstr>Local repository should look like below</vt:lpstr>
      <vt:lpstr>Online(Git hub)  repository  should  like  below</vt:lpstr>
      <vt:lpstr>Git  Collaboration</vt:lpstr>
      <vt:lpstr>Git  Collaboration</vt:lpstr>
      <vt:lpstr>Git  Collaboration</vt:lpstr>
      <vt:lpstr>Git  Collaboration</vt:lpstr>
      <vt:lpstr>Kofi  commit the   changes</vt:lpstr>
      <vt:lpstr>Kofi  commit the   changes</vt:lpstr>
      <vt:lpstr>Ama  start her own task</vt:lpstr>
      <vt:lpstr>Ama  start her complete</vt:lpstr>
      <vt:lpstr>Kojo  Start</vt:lpstr>
      <vt:lpstr>Kojo  Complete</vt:lpstr>
      <vt:lpstr>Merging  the files</vt:lpstr>
      <vt:lpstr>Merging  the files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Godwin Ntow Danso</dc:creator>
  <cp:lastModifiedBy>Godwin Ntow Danso</cp:lastModifiedBy>
  <cp:revision>39</cp:revision>
  <dcterms:created xsi:type="dcterms:W3CDTF">2026-03-19T00:59:06Z</dcterms:created>
  <dcterms:modified xsi:type="dcterms:W3CDTF">2026-03-19T07:26:31Z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 - Public</vt:lpwstr>
  </property>
</Properties>
</file>